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7.xml" ContentType="application/vnd.openxmlformats-officedocument.presentationml.notesSlide+xml"/>
  <Override PartName="/ppt/ink/ink3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7" r:id="rId3"/>
    <p:sldId id="296" r:id="rId4"/>
    <p:sldId id="320" r:id="rId5"/>
    <p:sldId id="310" r:id="rId6"/>
    <p:sldId id="303" r:id="rId7"/>
    <p:sldId id="305" r:id="rId8"/>
    <p:sldId id="307" r:id="rId9"/>
    <p:sldId id="308" r:id="rId10"/>
    <p:sldId id="309" r:id="rId11"/>
    <p:sldId id="312" r:id="rId12"/>
    <p:sldId id="313" r:id="rId13"/>
    <p:sldId id="315" r:id="rId14"/>
    <p:sldId id="265" r:id="rId15"/>
    <p:sldId id="316" r:id="rId16"/>
    <p:sldId id="299" r:id="rId17"/>
    <p:sldId id="301" r:id="rId18"/>
    <p:sldId id="300" r:id="rId19"/>
    <p:sldId id="317" r:id="rId20"/>
    <p:sldId id="318" r:id="rId21"/>
    <p:sldId id="32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88" autoAdjust="0"/>
    <p:restoredTop sz="77994" autoAdjust="0"/>
  </p:normalViewPr>
  <p:slideViewPr>
    <p:cSldViewPr snapToGrid="0">
      <p:cViewPr varScale="1">
        <p:scale>
          <a:sx n="90" d="100"/>
          <a:sy n="90" d="100"/>
        </p:scale>
        <p:origin x="2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22:37.501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1,'2809'0,"-2758"2,53 10,-53-5,59 0,-3-8,0-2,-1 6,157 22,-174-12,132 4,93-18,-122-1,63 5,275-7,-378-8,83-2,-207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22:40.997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1,'689'26,"28"1,-595-28,30-2,191 23,-216-10,186-8,-152-4,564 2,-693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22:43.258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58,'393'1,"406"-3,-681-2,210-34,-259 29,1 4,126 6,-65 2,-86-3,-1 2,67 12,-32 0,1-3,120 2,-30 0,2 0,512-14,-617 4,112 21,-37-4,103 23,-37-4,-131-32,148-7,-94-3,-68 5,-41 0,0-1,0-1,-1-1,1 0,26-7,-32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22:45.396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69,'3'-2,"0"-1,1 1,-1 0,1 0,-1 1,1-1,0 1,-1 0,1 0,0 0,7-1,51-1,-40 3,345-2,30 0,-158-23,317 22,-288 5,-258-2,-1-1,1 0,0 0,-1-1,10-3,-2-1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23:03.542"/>
    </inkml:context>
    <inkml:brush xml:id="br0">
      <inkml:brushProperty name="width" value="0.3" units="cm"/>
      <inkml:brushProperty name="height" value="0.6" units="cm"/>
      <inkml:brushProperty name="color" value="#AF73C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30,'36'-2,"48"-8,19-1,750 5,-465 9,441-3,-657 13,-1 1,-133-12,0 2,68 17,-68-13,-1 0,1-3,40 1,410-8,-452 0,62-11,-25 2,6-2,-45 7,67-3,-76 9,-3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23:45.157"/>
    </inkml:context>
    <inkml:brush xml:id="br0">
      <inkml:brushProperty name="width" value="0.3" units="cm"/>
      <inkml:brushProperty name="height" value="0.6" units="cm"/>
      <inkml:brushProperty name="color" value="#A5A676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53,'104'-10,"-14"0,783 2,-501 10,-201-16,-132 9,0 1,0 1,0 2,1 2,47 8,-40 1,8 1,1-1,72 2,654-10,-382-4,-376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23:47.638"/>
    </inkml:context>
    <inkml:brush xml:id="br0">
      <inkml:brushProperty name="width" value="0.3" units="cm"/>
      <inkml:brushProperty name="height" value="0.6" units="cm"/>
      <inkml:brushProperty name="color" value="#A5A67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1,'74'16,"90"-4,186-10,-173-4,921 1,-1053 3,54 9,36 3,85-16,106 4,-229 11,-61-7,47 2,269-9,-330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0:26.068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83,'26'1,"0"1,0 1,0 1,50 15,-46-11,1-2,-1-1,50 2,98-9,-66-1,738 3,-814-3,1-1,-1-1,68-21,-65 15,1 2,78-8,257 17,-23 1,-215-13,20-1,1070 14,-1200-2,1-2,26-6,-26 4,53-3,43 10,93-3,-197-3,-4-1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0:28.462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51,'1494'0,"-1208"-13,-135 4,35-2,237-6,501 18,-903-1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1:10.485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1,'4'2,"-1"1,1-1,-1 0,1 0,0 0,-1-1,1 1,0-1,0 0,0 0,9 1,51 1,-45-3,265 7,234 10,-73 29,-372-40,0-3,0-4,90-12,11 0,596 9,-416 6,-54 23,-197-12,110 0,-165-16,0-2,55-13,44-6,-100 21,-28 3,-1-1,0-1,-1-1,1-1,26-8,20-8,-45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1:13.031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26,'290'-13,"-7"1,722 13,-784 11,15 1,-184-11,65 11,-56-5,2 0,3 1,78 0,-122-9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7:31:20.272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0,'5487'0'0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1:53.709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0 114,'2024'0,"-1997"-1,-1-2,26-5,-22 3,40-2,158 3,207-12,-342 8,308-15,-324 25,94-4,-160 1,-1-1,0-1,0 0,0 0,-1-1,1 0,11-7,-8 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7:31:58.709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0,'4999'24'0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7:32:03.480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74 0,'3439'-74'0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2:05.668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1,'74'3,"98"18,-5 0,945 8,-874-42,-9 0,915 14,-1098 1,48 9,42 1,307-13,-422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2:07.082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1,'1683'0,"-1661"0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2:21.249"/>
    </inkml:context>
    <inkml:brush xml:id="br0">
      <inkml:brushProperty name="width" value="0.3" units="cm"/>
      <inkml:brushProperty name="height" value="0.6" units="cm"/>
      <inkml:brushProperty name="color" value="#AF73C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51,'53'0,"-9"2,0-3,0-2,52-10,-50 7,0 1,0 2,71 5,-29 0,29 0,129-4,-136-9,87-3,73 27,9 1,312-15,-445 13,-25 0,-48-11,-45-1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7:32:56.13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 0,'8120'-25'0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22.315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50,'501'-15,"-332"8,622 2,-433 8,87 12,341-4,-493-13,21-10,11-1,48-5,-106 12,-173 7,-67-1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24.231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76,'89'-15,"502"3,-401 13,613 0,-596-13,-29 0,655 10,-430 4,-379-3,0-2,30-6,38-4,-71 13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26.940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28,'98'-10,"-17"1,737 1,-479 11,-127-5,211 4,-284 10,44 1,-20-16,183 6,-314 0,1 3,31 8,-35-6,1-1,55 4,576-9,-323-5,-192 3,-125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28.588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75,'18'-1,"0"-1,26-6,24-3,508 6,-309 8,655-3,-768-13,1 0,-113 11,48-8,-48 4,50 0,-71 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31.926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49,'242'12,"-56"-1,1001-6,-649-8,-435 5,112-5,-59-21,5-2,323 4,1094 22,-1529 2,0 3,69 16,-34-6,-14-7,-47-6,-1 0,0 2,33 9,-27-3,1 0,-1 0,1-2,43 5,-62-12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35.200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10,'2289'0,"-2100"12,-27 0,345-12,-478-1,52-10,-51 6,49-3,27 10,80-4,-166-1,-4-3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38.298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0 101,'759'0,"-682"-4,126-22,-64-4,-95 18,1 2,0 2,65-3,264 32,-353-20,179 4,-138-6,-1 2,123 19,-113-8,0-2,1-4,86-4,608-2,-736 2,1 1,-1 1,45 13,7 1,-49-15,-1-1,1-1,-1-2,1-1,37-8,-40 4,-1 3,1 0,0 1,0 2,0 2,44 7,-30-2,1-1,-1-2,67-3,-60-2,0 2,68 11,121 42,-217-50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41.110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75,'229'-12,"-16"-1,-151 13,13 0,116-14,-127 7,127 3,-125 6,113-13,-85 3,0 4,0 3,95 13,-67-3,204-6,-187-4,-98-1,50-8,-48 3,48 1,901 7,-971-1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7:38:44.225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0,'3803'0'0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7:38:46.942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 0,'1391'-25'0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38:56.555"/>
    </inkml:context>
    <inkml:brush xml:id="br0">
      <inkml:brushProperty name="width" value="0.3" units="cm"/>
      <inkml:brushProperty name="height" value="0.6" units="cm"/>
      <inkml:brushProperty name="color" value="#AF73C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16,'2604'0,"-2594"0,0-1,1 0,-1 0,0-1,12-3,-6-1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7:40:07.16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52,'35'0,"0"1,0-2,1-1,54-11,-48 7,1 1,-1 2,1 2,44 4,7 0,1776-3,-1832-2,53-9,-51 5,51-1,806 8,-879 0,1 1,33 8,-32-6,-1 0,25 0,596-2,-310-4,-234 2,41 1,185-22,-247 15,135 5,-94 3,-75 0,52 9,-51-5,47 1,-57-8,1 2,-1 1,0 2,0 1,47 14,-56-12,0-2,0-1,1 0,27-1,103-5,-61-1,14 3,195 24,-141 0,100 19,-252-42,1 0,-1-1,0 0,0-1,0 0,0-1,0 0,9-3,18-3,403-42,-221 30,-187 17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8:01:10.811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8:02:57.286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0 102,'164'-12,"-19"0,993 9,-580 6,216-3,-595 12,-16 0,-142-11,251 12,-108-2,173-10,-144-3,1565 2,-1499 14,-164-5,179-8,-179-12,62-3,338 15,-340-13,-20 0,879 9,-514 6,264-3,-749-1,1-1,-1-1,0 0,0 0,21-9,-19 6,0 1,0 0,0 2,19-3,91 1,-58 4,-1-3,131-25,-180 25,0 0,0 1,1 1,-1 1,1 1,-1 1,0 0,1 1,-1 2,0 0,0 0,25 11,-30-7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8:03:09.132"/>
    </inkml:context>
    <inkml:brush xml:id="br0">
      <inkml:brushProperty name="width" value="0.3" units="cm"/>
      <inkml:brushProperty name="height" value="0.6" units="cm"/>
      <inkml:brushProperty name="color" value="#AF73C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0,'14079'49'0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8:03:17.957"/>
    </inkml:context>
    <inkml:brush xml:id="br0">
      <inkml:brushProperty name="width" value="0.3" units="cm"/>
      <inkml:brushProperty name="height" value="0.6" units="cm"/>
      <inkml:brushProperty name="color" value="#A5A676"/>
      <inkml:brushProperty name="tip" value="rectangle"/>
      <inkml:brushProperty name="rasterOp" value="maskPen"/>
      <inkml:brushProperty name="ignorePressure" value="1"/>
    </inkml:brush>
  </inkml:definitions>
  <inkml:trace contextRef="#ctx0" brushRef="#br0">0 75,'6'-4,"0"0,0 1,0 0,0 0,1 1,-1 0,1 0,0 0,-1 1,1 0,8 0,18-5,35-8,-1 3,102-4,141 14,-154 3,49 1,215 31,-287-23,214-8,-168-5,311 16,267-2,-466-14,1144 2,-1264-13,8 1,2068 15,-1178-5,-993 5,104 19,-107-11,123 2,203 1,60 34,-169-39,16 1,-98 5,214-12,-201-6,-161 3,108-15,-85 1,163-6,-124 22,138-4,-235-2,-8-1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6T18:01:10.811"/>
    </inkml:context>
    <inkml:brush xml:id="br0">
      <inkml:brushProperty name="width" value="0.3" units="cm"/>
      <inkml:brushProperty name="height" value="0.6" units="cm"/>
      <inkml:brushProperty name="color" value="#6BCFB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85387-B003-4167-B705-A4A3D96E7B8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4A6B3-C134-4CFC-A6C4-5A3441D60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8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16A0-2FDD-5387-6628-6F11F098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3A1CF-5181-E91A-947B-C675F78C7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2D69-9BBD-C009-EF63-954830F1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FF90A-2B25-37DB-25A3-332A8CF6E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60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35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5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29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5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Ignore 8</a:t>
            </a:r>
          </a:p>
          <a:p>
            <a:endParaRPr lang="en-US" dirty="0"/>
          </a:p>
          <a:p>
            <a:r>
              <a:rPr lang="en-US" dirty="0"/>
              <a:t>Problem with 9: it includes any affordable housing yes/no doesn’t make sense. Nowhere requires all new units to have affordable housing, so again, there’s an issue with the extent of the rule and what the affordability provisions are</a:t>
            </a:r>
          </a:p>
          <a:p>
            <a:endParaRPr lang="en-US" dirty="0"/>
          </a:p>
          <a:p>
            <a:r>
              <a:rPr lang="en-US" dirty="0"/>
              <a:t>Problem with 10: Same issue</a:t>
            </a:r>
          </a:p>
          <a:p>
            <a:endParaRPr lang="en-US" dirty="0"/>
          </a:p>
          <a:p>
            <a:r>
              <a:rPr lang="en-US" dirty="0"/>
              <a:t>Problem with 11: Same issue: no indication of how if certain projects require impact fees or every project. And Impact fees are low in places that don’t have a lot of development and higher in hot markets so, with all this, there is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67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I think this is interesting but not exactly the same thing as regulatory restrictiveness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6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4A6B3-C134-4CFC-A6C4-5A3441D60D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23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eecb6de73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3aeecb6de73_0_7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8" name="Google Shape;648;g3aeecb6de73_0_7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E51D-DD4E-F291-3A73-B99326FB8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7D7D2-D6D3-061C-DDA9-7E3DF9061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759BE-E637-8709-BB62-20B86B7D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A160-E8D0-6DF6-44A8-B2CABA7F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65BD6-AB43-3DE5-5CD5-32600102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7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5E87-7C7D-BE5E-2584-2AE0EF3E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9053E-5AD3-894F-27A7-FAE059643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0E499-CD93-5901-FE59-78CDBAE2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8D5CF-2D84-E346-6152-4F12FCBB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1820A-8841-0820-96FF-24BDFF7C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04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9057-340F-01D3-41F5-46198FAE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FB3A9-832E-1B53-74B9-609E4A10D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C6F5B-2D95-5F76-B064-7066FD47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768ED-D5C4-7EE6-6F4F-555826AE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CD02F-A725-75AF-CDB4-AEC35965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9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6BD89-ADDE-574D-7EDC-151420D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7E04D-F8B1-CB30-D986-FBF6B129A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55328-7221-8203-BA0D-61B0ECF8F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73A98-DECB-039F-3B86-5B2482A0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01ABB-A828-70E6-9B41-E991B782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F8B75-85DB-B998-1831-50DEE7FC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4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FB75-4D89-0F6C-0EBA-D54781CD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DAC9B-E0BB-11C0-BB37-5040AB961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EF4FF-8002-AEB3-C0EB-975DE4C7B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B205F-745F-9130-4F29-19F591F9E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C8CEA-4C8B-C3C0-1804-779EDCF2B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05260C-45DA-AFEB-3948-DB90CFAC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B28734-DDFC-D94B-9C86-6C6DD76D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FF278-50FE-3A22-5DAE-E621AAF2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7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5F67-F9CE-0569-572B-C0A08588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69A9B-BCB5-FF74-08E3-9E4D3E5F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9F034-60E5-7276-49EA-4BCF98F8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A15C2-E2EC-40A4-E693-463FBB28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3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1DFEA-D858-BB82-2897-1B232456D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7A8DA-523E-E00C-5FE8-1830E38B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173AD-C8A1-2E8F-DCDE-4C5A9A5D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3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ACC9-5FC8-AECD-8641-3E9D78EFC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22503-C07F-6B6F-6791-FAB500436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9E7C5-B353-320E-CC3D-3E69B6743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C708D-8D0E-6FE7-5176-95B72209E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5302E-6B72-2C02-3B7B-D1066952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B32B0-C1D0-FC12-97D4-8E249976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1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FB98-AA6F-3E79-BC68-5290AE659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6AB1D-8A0F-6211-8551-D841FB956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D6930-FA86-2297-3E6F-74D072609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60101-2023-A3AF-3F56-E7D0585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46553-0946-534B-7CFB-893DB08A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22A69-695C-5048-5E29-ED84CE8B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6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F86B-8AFB-EF09-74F0-DFA18C81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E6997-0E3F-A2C5-49F2-5046DAC73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63E7-0030-F41F-D53C-60228EC97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EE70-F8A6-B9AF-33EB-DA8CEE84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60285-6AD9-5754-3097-F7B1A3E0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0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783F22-0C37-B692-7AF5-E102140BF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8E33D-A210-68E0-F54F-502BE5410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D17EB-79CC-7281-4589-E2FD85E8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0EED5-1B36-88A8-E39B-FFCDE33B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98CF3-EFAB-4308-3CA3-86229B62A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3C354-9066-2DCB-D1A7-D5C5BAE5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F89B4-934C-38B9-C361-6F186078C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B6EB2-1170-9BDA-FFDD-E8ED850BC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0301F-969E-4938-AFAA-71347A4415F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EDE1-C125-5DC6-FE38-4A1E00A0A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BD159-FBB7-D514-C188-26215E1CB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6FCEE-F11B-45A9-9F20-0783EBEA4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2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9" Type="http://schemas.openxmlformats.org/officeDocument/2006/relationships/image" Target="../media/image30.png"/><Relationship Id="rId21" Type="http://schemas.openxmlformats.org/officeDocument/2006/relationships/customXml" Target="../ink/ink17.xml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47" Type="http://schemas.openxmlformats.org/officeDocument/2006/relationships/image" Target="../media/image34.png"/><Relationship Id="rId50" Type="http://schemas.openxmlformats.org/officeDocument/2006/relationships/customXml" Target="../ink/ink31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9" Type="http://schemas.openxmlformats.org/officeDocument/2006/relationships/image" Target="../media/image25.png"/><Relationship Id="rId11" Type="http://schemas.openxmlformats.org/officeDocument/2006/relationships/customXml" Target="../ink/ink12.xml"/><Relationship Id="rId24" Type="http://schemas.openxmlformats.org/officeDocument/2006/relationships/image" Target="../media/image22.png"/><Relationship Id="rId32" Type="http://schemas.openxmlformats.org/officeDocument/2006/relationships/customXml" Target="../ink/ink22.xml"/><Relationship Id="rId37" Type="http://schemas.openxmlformats.org/officeDocument/2006/relationships/image" Target="../media/image29.png"/><Relationship Id="rId40" Type="http://schemas.openxmlformats.org/officeDocument/2006/relationships/customXml" Target="../ink/ink26.xml"/><Relationship Id="rId45" Type="http://schemas.openxmlformats.org/officeDocument/2006/relationships/image" Target="../media/image33.png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35.png"/><Relationship Id="rId10" Type="http://schemas.openxmlformats.org/officeDocument/2006/relationships/image" Target="../media/image15.png"/><Relationship Id="rId19" Type="http://schemas.openxmlformats.org/officeDocument/2006/relationships/customXml" Target="../ink/ink16.xml"/><Relationship Id="rId31" Type="http://schemas.openxmlformats.org/officeDocument/2006/relationships/image" Target="../media/image26.png"/><Relationship Id="rId44" Type="http://schemas.openxmlformats.org/officeDocument/2006/relationships/customXml" Target="../ink/ink28.xml"/><Relationship Id="rId4" Type="http://schemas.openxmlformats.org/officeDocument/2006/relationships/image" Target="../media/image12.png"/><Relationship Id="rId9" Type="http://schemas.openxmlformats.org/officeDocument/2006/relationships/customXml" Target="../ink/ink11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image" Target="../media/image24.png"/><Relationship Id="rId30" Type="http://schemas.openxmlformats.org/officeDocument/2006/relationships/customXml" Target="../ink/ink21.xml"/><Relationship Id="rId35" Type="http://schemas.openxmlformats.org/officeDocument/2006/relationships/image" Target="../media/image28.png"/><Relationship Id="rId43" Type="http://schemas.openxmlformats.org/officeDocument/2006/relationships/image" Target="../media/image32.png"/><Relationship Id="rId48" Type="http://schemas.openxmlformats.org/officeDocument/2006/relationships/customXml" Target="../ink/ink30.xml"/><Relationship Id="rId8" Type="http://schemas.openxmlformats.org/officeDocument/2006/relationships/image" Target="../media/image14.png"/><Relationship Id="rId51" Type="http://schemas.openxmlformats.org/officeDocument/2006/relationships/image" Target="../media/image36.png"/><Relationship Id="rId3" Type="http://schemas.openxmlformats.org/officeDocument/2006/relationships/customXml" Target="../ink/ink8.xml"/><Relationship Id="rId12" Type="http://schemas.openxmlformats.org/officeDocument/2006/relationships/image" Target="../media/image16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image" Target="../media/image27.png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20" Type="http://schemas.openxmlformats.org/officeDocument/2006/relationships/image" Target="../media/image20.png"/><Relationship Id="rId41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3" Type="http://schemas.openxmlformats.org/officeDocument/2006/relationships/customXml" Target="../ink/ink32.xm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3.xml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0" Type="http://schemas.openxmlformats.org/officeDocument/2006/relationships/customXml" Target="../ink/ink35.xml"/><Relationship Id="rId4" Type="http://schemas.openxmlformats.org/officeDocument/2006/relationships/image" Target="../media/image38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D66E-D53C-41E8-B662-FCFB45CBA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359" y="1555500"/>
            <a:ext cx="10150641" cy="198178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/>
              <a:t>“Regulation” Does Not Exist: Disassembling the Wharton 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07B99-5442-97FE-EE16-5315B9EEC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831" y="4585201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+mj-lt"/>
              </a:rPr>
              <a:t>Scott Markley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Research Director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National Zoning Atlas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30 April 2026</a:t>
            </a:r>
          </a:p>
        </p:txBody>
      </p:sp>
      <p:cxnSp>
        <p:nvCxnSpPr>
          <p:cNvPr id="4" name="Google Shape;540;p1">
            <a:extLst>
              <a:ext uri="{FF2B5EF4-FFF2-40B4-BE49-F238E27FC236}">
                <a16:creationId xmlns:a16="http://schemas.microsoft.com/office/drawing/2014/main" id="{A0BD8400-1978-0AF8-B369-1C72020E3FB8}"/>
              </a:ext>
            </a:extLst>
          </p:cNvPr>
          <p:cNvCxnSpPr/>
          <p:nvPr/>
        </p:nvCxnSpPr>
        <p:spPr>
          <a:xfrm rot="10800000" flipH="1">
            <a:off x="-1" y="533618"/>
            <a:ext cx="11243100" cy="11400"/>
          </a:xfrm>
          <a:prstGeom prst="straightConnector1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544;p1">
            <a:extLst>
              <a:ext uri="{FF2B5EF4-FFF2-40B4-BE49-F238E27FC236}">
                <a16:creationId xmlns:a16="http://schemas.microsoft.com/office/drawing/2014/main" id="{9F8F1F28-D43C-32AF-CD9A-5E7AA80A7F0B}"/>
              </a:ext>
            </a:extLst>
          </p:cNvPr>
          <p:cNvCxnSpPr/>
          <p:nvPr/>
        </p:nvCxnSpPr>
        <p:spPr>
          <a:xfrm>
            <a:off x="11237700" y="522300"/>
            <a:ext cx="0" cy="3885687"/>
          </a:xfrm>
          <a:prstGeom prst="straightConnector1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" name="Google Shape;548;p1">
            <a:extLst>
              <a:ext uri="{FF2B5EF4-FFF2-40B4-BE49-F238E27FC236}">
                <a16:creationId xmlns:a16="http://schemas.microsoft.com/office/drawing/2014/main" id="{1166991A-B9DA-0DBE-9910-B014BEC41938}"/>
              </a:ext>
            </a:extLst>
          </p:cNvPr>
          <p:cNvCxnSpPr/>
          <p:nvPr/>
        </p:nvCxnSpPr>
        <p:spPr>
          <a:xfrm rot="10800000" flipH="1">
            <a:off x="2381825" y="6523325"/>
            <a:ext cx="9810300" cy="60900"/>
          </a:xfrm>
          <a:prstGeom prst="straightConnector1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542;p1">
            <a:extLst>
              <a:ext uri="{FF2B5EF4-FFF2-40B4-BE49-F238E27FC236}">
                <a16:creationId xmlns:a16="http://schemas.microsoft.com/office/drawing/2014/main" id="{80100A0F-8C6B-F762-53B4-82E564D51B7F}"/>
              </a:ext>
            </a:extLst>
          </p:cNvPr>
          <p:cNvCxnSpPr/>
          <p:nvPr/>
        </p:nvCxnSpPr>
        <p:spPr>
          <a:xfrm>
            <a:off x="7438292" y="3682418"/>
            <a:ext cx="4770270" cy="0"/>
          </a:xfrm>
          <a:prstGeom prst="straightConnector1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9527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152D8-170A-66E2-1B7F-27790FF1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31DD-6372-E2BC-1E13-DDD960BDD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507" y="2687504"/>
            <a:ext cx="4904452" cy="3224739"/>
          </a:xfrm>
        </p:spPr>
        <p:txBody>
          <a:bodyPr>
            <a:normAutofit/>
          </a:bodyPr>
          <a:lstStyle/>
          <a:p>
            <a:r>
              <a:rPr lang="en-US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Level of Land Use Regulation</a:t>
            </a:r>
            <a:br>
              <a:rPr lang="en-US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br>
              <a:rPr lang="en-US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Housing Prices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FE774A5F-8B55-2610-4F8B-5856DA796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621" y="970409"/>
            <a:ext cx="5172859" cy="5342573"/>
          </a:xfrm>
          <a:prstGeom prst="rect">
            <a:avLst/>
          </a:prstGeom>
          <a:ln>
            <a:solidFill>
              <a:srgbClr val="013C53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2B00DD-2EA6-6E02-0135-6961D166779E}"/>
              </a:ext>
            </a:extLst>
          </p:cNvPr>
          <p:cNvSpPr txBox="1"/>
          <p:nvPr/>
        </p:nvSpPr>
        <p:spPr>
          <a:xfrm>
            <a:off x="6212621" y="6312982"/>
            <a:ext cx="287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York Times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(2024)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8CEE52-5E49-4C6C-9FFF-7C747CA7F4F3}"/>
              </a:ext>
            </a:extLst>
          </p:cNvPr>
          <p:cNvSpPr txBox="1">
            <a:spLocks/>
          </p:cNvSpPr>
          <p:nvPr/>
        </p:nvSpPr>
        <p:spPr>
          <a:xfrm>
            <a:off x="781569" y="545018"/>
            <a:ext cx="5172859" cy="201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b="1" dirty="0">
                <a:solidFill>
                  <a:srgbClr val="013C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Ascendant Theory of Housing Unaffordability: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A1395B-F7F3-6456-86BE-8E213A2F5CF2}"/>
              </a:ext>
            </a:extLst>
          </p:cNvPr>
          <p:cNvSpPr/>
          <p:nvPr/>
        </p:nvSpPr>
        <p:spPr>
          <a:xfrm>
            <a:off x="6246125" y="5337364"/>
            <a:ext cx="5070433" cy="219646"/>
          </a:xfrm>
          <a:prstGeom prst="rect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Google Shape;411;g35c44a9f9d9_2_0">
            <a:extLst>
              <a:ext uri="{FF2B5EF4-FFF2-40B4-BE49-F238E27FC236}">
                <a16:creationId xmlns:a16="http://schemas.microsoft.com/office/drawing/2014/main" id="{FC2F2E0F-F200-E139-D0D7-0E8E51EE794E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" name="Google Shape;412;g35c44a9f9d9_2_0">
            <a:extLst>
              <a:ext uri="{FF2B5EF4-FFF2-40B4-BE49-F238E27FC236}">
                <a16:creationId xmlns:a16="http://schemas.microsoft.com/office/drawing/2014/main" id="{E926F91B-5FD3-697C-5548-ECFD806C2983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5649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0F1A0-4F9B-79D7-C0A1-B475ED1D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1D79B63-55F4-D5AC-2A38-FD564D850689}"/>
              </a:ext>
            </a:extLst>
          </p:cNvPr>
          <p:cNvSpPr txBox="1">
            <a:spLocks/>
          </p:cNvSpPr>
          <p:nvPr/>
        </p:nvSpPr>
        <p:spPr>
          <a:xfrm>
            <a:off x="734770" y="259156"/>
            <a:ext cx="10779451" cy="164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200" b="1" i="1" dirty="0">
                <a:solidFill>
                  <a:srgbClr val="013C53"/>
                </a:solidFill>
              </a:rPr>
              <a:t>Undifferentiated Regulation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B44897-AA91-B79F-2EDC-7D808656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96" y="1849589"/>
            <a:ext cx="4307305" cy="2063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10C93C-E79C-F15A-720A-CF194A51C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157" y="4349880"/>
            <a:ext cx="4991784" cy="20330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D7F3A5-3023-5274-91B3-CBD8F92F2107}"/>
              </a:ext>
            </a:extLst>
          </p:cNvPr>
          <p:cNvSpPr txBox="1"/>
          <p:nvPr/>
        </p:nvSpPr>
        <p:spPr>
          <a:xfrm>
            <a:off x="867939" y="1872920"/>
            <a:ext cx="585853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Wharton Residential Land Use Regulation Index (WRLURI)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Survey of </a:t>
            </a:r>
            <a:r>
              <a:rPr lang="en-US" sz="2600" b="1" dirty="0">
                <a:solidFill>
                  <a:schemeClr val="bg1"/>
                </a:solidFill>
              </a:rPr>
              <a:t>&gt;2,500 local governments</a:t>
            </a:r>
            <a:r>
              <a:rPr lang="en-US" sz="2600" dirty="0">
                <a:solidFill>
                  <a:schemeClr val="bg1"/>
                </a:solidFill>
              </a:rPr>
              <a:t> on regulatory restrictiveness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Number ranging from </a:t>
            </a:r>
            <a:r>
              <a:rPr lang="en-US" sz="2600" b="1" dirty="0">
                <a:solidFill>
                  <a:schemeClr val="bg1"/>
                </a:solidFill>
              </a:rPr>
              <a:t>-2.6 </a:t>
            </a:r>
            <a:r>
              <a:rPr lang="en-US" sz="2600" dirty="0">
                <a:solidFill>
                  <a:schemeClr val="bg1"/>
                </a:solidFill>
              </a:rPr>
              <a:t>to</a:t>
            </a:r>
            <a:r>
              <a:rPr lang="en-US" sz="2600" b="1" dirty="0">
                <a:solidFill>
                  <a:schemeClr val="bg1"/>
                </a:solidFill>
              </a:rPr>
              <a:t> 4.9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Cited ~1,500 times</a:t>
            </a:r>
          </a:p>
          <a:p>
            <a:endParaRPr lang="en-US" sz="2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3118BF-5645-0BF7-F867-4B9B6EA8A94E}"/>
              </a:ext>
            </a:extLst>
          </p:cNvPr>
          <p:cNvSpPr txBox="1"/>
          <p:nvPr/>
        </p:nvSpPr>
        <p:spPr>
          <a:xfrm>
            <a:off x="6726473" y="39098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 err="1">
                <a:solidFill>
                  <a:schemeClr val="bg1"/>
                </a:solidFill>
              </a:rPr>
              <a:t>Gyourko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et al</a:t>
            </a:r>
            <a:r>
              <a:rPr lang="en-US" sz="1800" dirty="0">
                <a:solidFill>
                  <a:schemeClr val="bg1"/>
                </a:solidFill>
              </a:rPr>
              <a:t>., 2008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3799B7-C194-2F0A-4622-C8D4245443BF}"/>
              </a:ext>
            </a:extLst>
          </p:cNvPr>
          <p:cNvSpPr txBox="1"/>
          <p:nvPr/>
        </p:nvSpPr>
        <p:spPr>
          <a:xfrm>
            <a:off x="6412831" y="6376482"/>
            <a:ext cx="3657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 err="1">
                <a:solidFill>
                  <a:schemeClr val="bg1"/>
                </a:solidFill>
              </a:rPr>
              <a:t>Gyourko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et al</a:t>
            </a:r>
            <a:r>
              <a:rPr lang="en-US" sz="1800" dirty="0">
                <a:solidFill>
                  <a:schemeClr val="bg1"/>
                </a:solidFill>
              </a:rPr>
              <a:t>., 2021</a:t>
            </a:r>
          </a:p>
        </p:txBody>
      </p:sp>
      <p:cxnSp>
        <p:nvCxnSpPr>
          <p:cNvPr id="17" name="Google Shape;411;g35c44a9f9d9_2_0">
            <a:extLst>
              <a:ext uri="{FF2B5EF4-FFF2-40B4-BE49-F238E27FC236}">
                <a16:creationId xmlns:a16="http://schemas.microsoft.com/office/drawing/2014/main" id="{E7846E05-819C-FA25-C74E-F05DAE44ABB7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" name="Google Shape;412;g35c44a9f9d9_2_0">
            <a:extLst>
              <a:ext uri="{FF2B5EF4-FFF2-40B4-BE49-F238E27FC236}">
                <a16:creationId xmlns:a16="http://schemas.microsoft.com/office/drawing/2014/main" id="{DAC41CA1-209C-7521-587E-3FC0EEEBB4D4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76433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9FBF-CA45-FFB9-3C27-C1E3F55A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13C53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30E4F-9EAE-E132-B58D-3D3E132F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153"/>
            <a:ext cx="10515600" cy="381781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Disassemble the Wharton Index to understand its components.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Compare the Wharton Index against actual land use regulations.</a:t>
            </a:r>
          </a:p>
        </p:txBody>
      </p:sp>
      <p:cxnSp>
        <p:nvCxnSpPr>
          <p:cNvPr id="4" name="Google Shape;411;g35c44a9f9d9_2_0">
            <a:extLst>
              <a:ext uri="{FF2B5EF4-FFF2-40B4-BE49-F238E27FC236}">
                <a16:creationId xmlns:a16="http://schemas.microsoft.com/office/drawing/2014/main" id="{95469C84-65EE-8F98-40C9-8D6C6B38A6F0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412;g35c44a9f9d9_2_0">
            <a:extLst>
              <a:ext uri="{FF2B5EF4-FFF2-40B4-BE49-F238E27FC236}">
                <a16:creationId xmlns:a16="http://schemas.microsoft.com/office/drawing/2014/main" id="{31962AD3-66D5-0C2C-8DD0-75B1B38250B8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1486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41F7-19C8-A194-4585-53E0B525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315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Disassembling the Wharton Index</a:t>
            </a:r>
          </a:p>
        </p:txBody>
      </p:sp>
      <p:cxnSp>
        <p:nvCxnSpPr>
          <p:cNvPr id="3" name="Google Shape;417;g356df501983_0_62">
            <a:extLst>
              <a:ext uri="{FF2B5EF4-FFF2-40B4-BE49-F238E27FC236}">
                <a16:creationId xmlns:a16="http://schemas.microsoft.com/office/drawing/2014/main" id="{CF2EC18B-B131-4B91-00AF-50438E543F47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419;g356df501983_0_62">
            <a:extLst>
              <a:ext uri="{FF2B5EF4-FFF2-40B4-BE49-F238E27FC236}">
                <a16:creationId xmlns:a16="http://schemas.microsoft.com/office/drawing/2014/main" id="{15C275B0-780C-2488-4B79-C2C7FE18D48F}"/>
              </a:ext>
            </a:extLst>
          </p:cNvPr>
          <p:cNvCxnSpPr/>
          <p:nvPr/>
        </p:nvCxnSpPr>
        <p:spPr>
          <a:xfrm>
            <a:off x="0" y="2673950"/>
            <a:ext cx="4048200" cy="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Google Shape;420;g356df501983_0_62">
            <a:extLst>
              <a:ext uri="{FF2B5EF4-FFF2-40B4-BE49-F238E27FC236}">
                <a16:creationId xmlns:a16="http://schemas.microsoft.com/office/drawing/2014/main" id="{9101A727-04C3-EDEE-F96F-7D855419652E}"/>
              </a:ext>
            </a:extLst>
          </p:cNvPr>
          <p:cNvCxnSpPr/>
          <p:nvPr/>
        </p:nvCxnSpPr>
        <p:spPr>
          <a:xfrm>
            <a:off x="1281600" y="6505710"/>
            <a:ext cx="109104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23590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971F-1EAE-B9A0-A65F-3FFE5CF2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484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13C53"/>
                </a:solidFill>
              </a:rPr>
              <a:t>Subindices 1-3:</a:t>
            </a:r>
            <a:br>
              <a:rPr lang="en-US" dirty="0">
                <a:solidFill>
                  <a:srgbClr val="013C53"/>
                </a:solidFill>
              </a:rPr>
            </a:br>
            <a:r>
              <a:rPr lang="en-US" dirty="0">
                <a:solidFill>
                  <a:srgbClr val="013C53"/>
                </a:solidFill>
              </a:rPr>
              <a:t>Perceived Political Pressure + Involvement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B3DEF9-0933-C284-9C04-3FAE96889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21" y="2229386"/>
            <a:ext cx="10042358" cy="3758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1A29936-9321-9300-4511-50FF390E3E22}"/>
                  </a:ext>
                </a:extLst>
              </p14:cNvPr>
              <p14:cNvContentPartPr/>
              <p14:nvPr/>
            </p14:nvContentPartPr>
            <p14:xfrm>
              <a:off x="1485540" y="3828675"/>
              <a:ext cx="2061000" cy="29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1A29936-9321-9300-4511-50FF390E3E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1900" y="3721035"/>
                <a:ext cx="21686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C446715-BA2D-6FD6-0A15-ADC7A867EC43}"/>
                  </a:ext>
                </a:extLst>
              </p14:cNvPr>
              <p14:cNvContentPartPr/>
              <p14:nvPr/>
            </p14:nvContentPartPr>
            <p14:xfrm>
              <a:off x="1704780" y="4028835"/>
              <a:ext cx="1217520" cy="29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C446715-BA2D-6FD6-0A15-ADC7A867EC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51140" y="3921195"/>
                <a:ext cx="13251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DC3C7BB-BB97-5F43-01E3-5AF47D9381DE}"/>
                  </a:ext>
                </a:extLst>
              </p14:cNvPr>
              <p14:cNvContentPartPr/>
              <p14:nvPr/>
            </p14:nvContentPartPr>
            <p14:xfrm>
              <a:off x="1438020" y="4341675"/>
              <a:ext cx="1872000" cy="79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DC3C7BB-BB97-5F43-01E3-5AF47D9381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84380" y="4234035"/>
                <a:ext cx="197964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6EBC4DF-7137-4E0D-85B5-49F93F38FF07}"/>
                  </a:ext>
                </a:extLst>
              </p14:cNvPr>
              <p14:cNvContentPartPr/>
              <p14:nvPr/>
            </p14:nvContentPartPr>
            <p14:xfrm>
              <a:off x="1447380" y="5718675"/>
              <a:ext cx="736560" cy="25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6EBC4DF-7137-4E0D-85B5-49F93F38FF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93740" y="5610675"/>
                <a:ext cx="8442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B18E76E-917C-DEDA-B738-D33FEC612515}"/>
                  </a:ext>
                </a:extLst>
              </p14:cNvPr>
              <p14:cNvContentPartPr/>
              <p14:nvPr/>
            </p14:nvContentPartPr>
            <p14:xfrm>
              <a:off x="1457100" y="4675395"/>
              <a:ext cx="1428120" cy="30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B18E76E-917C-DEDA-B738-D33FEC6125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03460" y="4567755"/>
                <a:ext cx="15357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D7055DB-1D63-6B27-79FF-35F08E3BAFC0}"/>
                  </a:ext>
                </a:extLst>
              </p14:cNvPr>
              <p14:cNvContentPartPr/>
              <p14:nvPr/>
            </p14:nvContentPartPr>
            <p14:xfrm>
              <a:off x="1399860" y="5019555"/>
              <a:ext cx="1218960" cy="20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D7055DB-1D63-6B27-79FF-35F08E3BAF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6220" y="4911555"/>
                <a:ext cx="13266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4EEBA66-7002-E072-B254-E0FE8DE9AC99}"/>
                  </a:ext>
                </a:extLst>
              </p14:cNvPr>
              <p14:cNvContentPartPr/>
              <p14:nvPr/>
            </p14:nvContentPartPr>
            <p14:xfrm>
              <a:off x="1428300" y="5371635"/>
              <a:ext cx="1180800" cy="29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4EEBA66-7002-E072-B254-E0FE8DE9AC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74660" y="5263995"/>
                <a:ext cx="1288440" cy="24516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7C5C7418-EE31-3433-6B99-034F1859D9B2}"/>
              </a:ext>
            </a:extLst>
          </p:cNvPr>
          <p:cNvSpPr txBox="1"/>
          <p:nvPr/>
        </p:nvSpPr>
        <p:spPr>
          <a:xfrm>
            <a:off x="1065034" y="3739325"/>
            <a:ext cx="21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B9371F-17B3-447E-F22D-64C73E83B934}"/>
              </a:ext>
            </a:extLst>
          </p:cNvPr>
          <p:cNvSpPr txBox="1"/>
          <p:nvPr/>
        </p:nvSpPr>
        <p:spPr>
          <a:xfrm>
            <a:off x="1074821" y="4157009"/>
            <a:ext cx="21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0F3BC0-A77D-7E5D-FA0A-4CF14AF487C0}"/>
              </a:ext>
            </a:extLst>
          </p:cNvPr>
          <p:cNvSpPr txBox="1"/>
          <p:nvPr/>
        </p:nvSpPr>
        <p:spPr>
          <a:xfrm>
            <a:off x="1076855" y="5534009"/>
            <a:ext cx="21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114C33-4BB2-7368-C53E-28B86D1A2207}"/>
              </a:ext>
            </a:extLst>
          </p:cNvPr>
          <p:cNvSpPr txBox="1"/>
          <p:nvPr/>
        </p:nvSpPr>
        <p:spPr>
          <a:xfrm>
            <a:off x="1084608" y="4526341"/>
            <a:ext cx="21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EC4E89-28D9-299A-4B9F-6246B1B671D7}"/>
              </a:ext>
            </a:extLst>
          </p:cNvPr>
          <p:cNvSpPr txBox="1"/>
          <p:nvPr/>
        </p:nvSpPr>
        <p:spPr>
          <a:xfrm>
            <a:off x="1084608" y="4863627"/>
            <a:ext cx="21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9285FB-0192-9CDD-E755-DC0831CFBB5C}"/>
              </a:ext>
            </a:extLst>
          </p:cNvPr>
          <p:cNvSpPr txBox="1"/>
          <p:nvPr/>
        </p:nvSpPr>
        <p:spPr>
          <a:xfrm>
            <a:off x="1074821" y="5199778"/>
            <a:ext cx="21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38" name="Google Shape;411;g35c44a9f9d9_2_0">
            <a:extLst>
              <a:ext uri="{FF2B5EF4-FFF2-40B4-BE49-F238E27FC236}">
                <a16:creationId xmlns:a16="http://schemas.microsoft.com/office/drawing/2014/main" id="{47012719-698E-30E5-B722-0EBF7C565B5E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" name="Google Shape;412;g35c44a9f9d9_2_0">
            <a:extLst>
              <a:ext uri="{FF2B5EF4-FFF2-40B4-BE49-F238E27FC236}">
                <a16:creationId xmlns:a16="http://schemas.microsoft.com/office/drawing/2014/main" id="{522D5D3B-D2D4-F195-A1BA-620461EE06B3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67410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C26D0-630E-CD32-8F79-81B28243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8F21-3804-8F5B-754D-50BE69489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9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13C53"/>
                </a:solidFill>
              </a:rPr>
              <a:t>Subindices 4-6:</a:t>
            </a:r>
            <a:br>
              <a:rPr lang="en-US" sz="3600" dirty="0">
                <a:solidFill>
                  <a:srgbClr val="013C53"/>
                </a:solidFill>
              </a:rPr>
            </a:br>
            <a:r>
              <a:rPr lang="en-US" sz="3600" dirty="0">
                <a:solidFill>
                  <a:srgbClr val="013C53"/>
                </a:solidFill>
              </a:rPr>
              <a:t>Governing Bodies Believed to be Involved in “By Right” and Not By Right Zoning Changes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F13E007-58C5-966D-5EEF-542A9A79002B}"/>
              </a:ext>
            </a:extLst>
          </p:cNvPr>
          <p:cNvGrpSpPr/>
          <p:nvPr/>
        </p:nvGrpSpPr>
        <p:grpSpPr>
          <a:xfrm>
            <a:off x="2326206" y="2312646"/>
            <a:ext cx="7796210" cy="4419005"/>
            <a:chOff x="2009340" y="1838445"/>
            <a:chExt cx="8459381" cy="476316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F13ACB-A1BC-5DE8-A801-D6B3E0F7B090}"/>
                    </a:ext>
                  </a:extLst>
                </p14:cNvPr>
                <p14:cNvContentPartPr/>
                <p14:nvPr/>
              </p14:nvContentPartPr>
              <p14:xfrm>
                <a:off x="2352465" y="3825075"/>
                <a:ext cx="1853280" cy="5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F13ACB-A1BC-5DE8-A801-D6B3E0F7B09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93866" y="3708855"/>
                  <a:ext cx="1970087" cy="286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254B09-290A-B6C4-1EE4-7416B0DA6C12}"/>
                    </a:ext>
                  </a:extLst>
                </p14:cNvPr>
                <p14:cNvContentPartPr/>
                <p14:nvPr/>
              </p14:nvContentPartPr>
              <p14:xfrm>
                <a:off x="2352465" y="4123515"/>
                <a:ext cx="1361520" cy="1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254B09-290A-B6C4-1EE4-7416B0DA6C1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93880" y="4007433"/>
                  <a:ext cx="1478300" cy="2523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FA1C7D-02ED-C6FD-5C71-06887AD619D1}"/>
                    </a:ext>
                  </a:extLst>
                </p14:cNvPr>
                <p14:cNvContentPartPr/>
                <p14:nvPr/>
              </p14:nvContentPartPr>
              <p14:xfrm>
                <a:off x="2352465" y="4371555"/>
                <a:ext cx="1676160" cy="48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FA1C7D-02ED-C6FD-5C71-06887AD619D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93872" y="4255372"/>
                  <a:ext cx="1792956" cy="2817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476437-0A63-6F32-B44B-9FF9694BB479}"/>
                    </a:ext>
                  </a:extLst>
                </p14:cNvPr>
                <p14:cNvContentPartPr/>
                <p14:nvPr/>
              </p14:nvContentPartPr>
              <p14:xfrm>
                <a:off x="2495385" y="4523835"/>
                <a:ext cx="1000080" cy="29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476437-0A63-6F32-B44B-9FF9694BB47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36809" y="4407697"/>
                  <a:ext cx="1116841" cy="262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C17BAA-B773-7360-D375-62585E259DDA}"/>
                    </a:ext>
                  </a:extLst>
                </p14:cNvPr>
                <p14:cNvContentPartPr/>
                <p14:nvPr/>
              </p14:nvContentPartPr>
              <p14:xfrm>
                <a:off x="2352465" y="4790595"/>
                <a:ext cx="2143440" cy="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C17BAA-B773-7360-D375-62585E259DD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93880" y="4574595"/>
                  <a:ext cx="22602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16E68B-A739-C139-CF6E-1BD1E72ABB05}"/>
                    </a:ext>
                  </a:extLst>
                </p14:cNvPr>
                <p14:cNvContentPartPr/>
                <p14:nvPr/>
              </p14:nvContentPartPr>
              <p14:xfrm>
                <a:off x="2352465" y="5042235"/>
                <a:ext cx="1460520" cy="44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16E68B-A739-C139-CF6E-1BD1E72ABB0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93872" y="4926097"/>
                  <a:ext cx="1577315" cy="276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0235C3-6716-4348-7D1C-394F1428D4E7}"/>
                    </a:ext>
                  </a:extLst>
                </p14:cNvPr>
                <p14:cNvContentPartPr/>
                <p14:nvPr/>
              </p14:nvContentPartPr>
              <p14:xfrm>
                <a:off x="2314305" y="5362275"/>
                <a:ext cx="1953000" cy="9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0235C3-6716-4348-7D1C-394F1428D4E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55715" y="5245635"/>
                  <a:ext cx="2069789" cy="2426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19C524-AE21-D938-1FB2-B240A37DEF2D}"/>
                    </a:ext>
                  </a:extLst>
                </p14:cNvPr>
                <p14:cNvContentPartPr/>
                <p14:nvPr/>
              </p14:nvContentPartPr>
              <p14:xfrm>
                <a:off x="2314305" y="5914515"/>
                <a:ext cx="1343520" cy="29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19C524-AE21-D938-1FB2-B240A37DEF2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55721" y="5797875"/>
                  <a:ext cx="1460297" cy="2620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1F58DB-6920-076A-B3B7-F760120791D7}"/>
                    </a:ext>
                  </a:extLst>
                </p14:cNvPr>
                <p14:cNvContentPartPr/>
                <p14:nvPr/>
              </p14:nvContentPartPr>
              <p14:xfrm>
                <a:off x="2295225" y="6171915"/>
                <a:ext cx="1514160" cy="2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1F58DB-6920-076A-B3B7-F760120791D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36643" y="6055664"/>
                  <a:ext cx="1630934" cy="2620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D6F42F-D209-2B32-B4D7-962AD816BB63}"/>
                    </a:ext>
                  </a:extLst>
                </p14:cNvPr>
                <p14:cNvContentPartPr/>
                <p14:nvPr/>
              </p14:nvContentPartPr>
              <p14:xfrm>
                <a:off x="2324025" y="6476835"/>
                <a:ext cx="66600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D6F42F-D209-2B32-B4D7-962AD816BB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65433" y="6369195"/>
                  <a:ext cx="782794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6F4F48-1006-5B46-1B70-FBB986310AFD}"/>
                    </a:ext>
                  </a:extLst>
                </p14:cNvPr>
                <p14:cNvContentPartPr/>
                <p14:nvPr/>
              </p14:nvContentPartPr>
              <p14:xfrm>
                <a:off x="2304945" y="5638035"/>
                <a:ext cx="1094760" cy="20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6F4F48-1006-5B46-1B70-FBB986310AF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46360" y="5522271"/>
                  <a:ext cx="1211540" cy="2524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522655-A61C-601E-C27E-530317B206F6}"/>
                    </a:ext>
                  </a:extLst>
                </p14:cNvPr>
                <p14:cNvContentPartPr/>
                <p14:nvPr/>
              </p14:nvContentPartPr>
              <p14:xfrm>
                <a:off x="2352465" y="3123795"/>
                <a:ext cx="3172320" cy="1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9522655-A61C-601E-C27E-530317B206F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93870" y="3007487"/>
                  <a:ext cx="3289119" cy="242308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4E22D9-AFB3-A016-E4ED-634702337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009340" y="1838445"/>
              <a:ext cx="8459381" cy="476316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E968AA-6DA3-5864-F33E-47ACF1B48282}"/>
                </a:ext>
              </a:extLst>
            </p:cNvPr>
            <p:cNvSpPr txBox="1"/>
            <p:nvPr/>
          </p:nvSpPr>
          <p:spPr>
            <a:xfrm>
              <a:off x="2052310" y="352340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9B843FA-B6B6-41DF-0E82-705F27B988DF}"/>
                </a:ext>
              </a:extLst>
            </p:cNvPr>
            <p:cNvSpPr txBox="1"/>
            <p:nvPr/>
          </p:nvSpPr>
          <p:spPr>
            <a:xfrm>
              <a:off x="2047986" y="382706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3BB0CB6-3C81-DD49-366E-FBA4F5582CD7}"/>
                </a:ext>
              </a:extLst>
            </p:cNvPr>
            <p:cNvSpPr txBox="1"/>
            <p:nvPr/>
          </p:nvSpPr>
          <p:spPr>
            <a:xfrm>
              <a:off x="2046915" y="4158513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03603-4CD9-19B9-26DD-697FDA3BF571}"/>
                </a:ext>
              </a:extLst>
            </p:cNvPr>
            <p:cNvSpPr txBox="1"/>
            <p:nvPr/>
          </p:nvSpPr>
          <p:spPr>
            <a:xfrm>
              <a:off x="2052310" y="4475983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C53D2EA-5602-3F15-DEEF-10F3EAF3793A}"/>
                </a:ext>
              </a:extLst>
            </p:cNvPr>
            <p:cNvSpPr txBox="1"/>
            <p:nvPr/>
          </p:nvSpPr>
          <p:spPr>
            <a:xfrm>
              <a:off x="2047986" y="473853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A05B1ED-DE35-B619-C6C4-D52EBA78ADD8}"/>
                </a:ext>
              </a:extLst>
            </p:cNvPr>
            <p:cNvSpPr txBox="1"/>
            <p:nvPr/>
          </p:nvSpPr>
          <p:spPr>
            <a:xfrm>
              <a:off x="2056193" y="5016252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F7B8FCB-70C1-D578-1E9D-CA80DAB831CD}"/>
                </a:ext>
              </a:extLst>
            </p:cNvPr>
            <p:cNvSpPr txBox="1"/>
            <p:nvPr/>
          </p:nvSpPr>
          <p:spPr>
            <a:xfrm>
              <a:off x="2076461" y="5858924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59229D-83D4-49CB-E8C6-817B9DEF8847}"/>
                </a:ext>
              </a:extLst>
            </p:cNvPr>
            <p:cNvSpPr txBox="1"/>
            <p:nvPr/>
          </p:nvSpPr>
          <p:spPr>
            <a:xfrm>
              <a:off x="2060906" y="561208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CDE62D-293C-83F0-0925-E2457CAD25BA}"/>
                </a:ext>
              </a:extLst>
            </p:cNvPr>
            <p:cNvSpPr txBox="1"/>
            <p:nvPr/>
          </p:nvSpPr>
          <p:spPr>
            <a:xfrm>
              <a:off x="2077553" y="6123243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4,5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1628B-9AAD-09E3-71B0-6F77361060D9}"/>
                </a:ext>
              </a:extLst>
            </p:cNvPr>
            <p:cNvSpPr txBox="1"/>
            <p:nvPr/>
          </p:nvSpPr>
          <p:spPr>
            <a:xfrm>
              <a:off x="2157715" y="52945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6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55D471-B7F6-AFD8-B53B-7296D728D459}"/>
                    </a:ext>
                  </a:extLst>
                </p14:cNvPr>
                <p14:cNvContentPartPr/>
                <p14:nvPr/>
              </p14:nvContentPartPr>
              <p14:xfrm>
                <a:off x="2657385" y="3733275"/>
                <a:ext cx="1852920" cy="20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55D471-B7F6-AFD8-B53B-7296D728D4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98798" y="3617355"/>
                  <a:ext cx="1969704" cy="2523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874355-B496-122B-25D7-05CD60583EF4}"/>
                    </a:ext>
                  </a:extLst>
                </p14:cNvPr>
                <p14:cNvContentPartPr/>
                <p14:nvPr/>
              </p14:nvContentPartPr>
              <p14:xfrm>
                <a:off x="2666745" y="3999675"/>
                <a:ext cx="1370880" cy="29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874355-B496-122B-25D7-05CD60583E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08160" y="3883537"/>
                  <a:ext cx="1487659" cy="262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AB2BE44-CE0C-8C1A-F40F-8A0FA61037C3}"/>
                    </a:ext>
                  </a:extLst>
                </p14:cNvPr>
                <p14:cNvContentPartPr/>
                <p14:nvPr/>
              </p14:nvContentPartPr>
              <p14:xfrm>
                <a:off x="2704905" y="4218195"/>
                <a:ext cx="1656720" cy="30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AB2BE44-CE0C-8C1A-F40F-8A0FA61037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46308" y="4102482"/>
                  <a:ext cx="1773522" cy="2627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35BD91-6B02-D4EC-CD6B-C018991D6AB0}"/>
                    </a:ext>
                  </a:extLst>
                </p14:cNvPr>
                <p14:cNvContentPartPr/>
                <p14:nvPr/>
              </p14:nvContentPartPr>
              <p14:xfrm>
                <a:off x="2828745" y="4380915"/>
                <a:ext cx="980280" cy="29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35BD91-6B02-D4EC-CD6B-C018991D6A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70139" y="4264664"/>
                  <a:ext cx="1097101" cy="2620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FF9263-FE8B-A363-7AD2-198AD8915579}"/>
                    </a:ext>
                  </a:extLst>
                </p14:cNvPr>
                <p14:cNvContentPartPr/>
                <p14:nvPr/>
              </p14:nvContentPartPr>
              <p14:xfrm>
                <a:off x="2666745" y="4648035"/>
                <a:ext cx="2163600" cy="48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FF9263-FE8B-A363-7AD2-198AD89155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08153" y="4532706"/>
                  <a:ext cx="2280393" cy="279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94D49A2-46A5-4368-082F-4C2473534C20}"/>
                    </a:ext>
                  </a:extLst>
                </p14:cNvPr>
                <p14:cNvContentPartPr/>
                <p14:nvPr/>
              </p14:nvContentPartPr>
              <p14:xfrm>
                <a:off x="2695545" y="4939635"/>
                <a:ext cx="1443240" cy="13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94D49A2-46A5-4368-082F-4C2473534C2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36956" y="4822378"/>
                  <a:ext cx="1560027" cy="2478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D806A09-D499-97C5-AB56-E86202FFB8CC}"/>
                    </a:ext>
                  </a:extLst>
                </p14:cNvPr>
                <p14:cNvContentPartPr/>
                <p14:nvPr/>
              </p14:nvContentPartPr>
              <p14:xfrm>
                <a:off x="2685825" y="5161395"/>
                <a:ext cx="1923480" cy="77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D806A09-D499-97C5-AB56-E86202FFB8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27230" y="5045295"/>
                  <a:ext cx="2040279" cy="3092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DF5632B-C94E-FB4C-638F-DEFEDE362638}"/>
                    </a:ext>
                  </a:extLst>
                </p14:cNvPr>
                <p14:cNvContentPartPr/>
                <p14:nvPr/>
              </p14:nvContentPartPr>
              <p14:xfrm>
                <a:off x="2666745" y="5733435"/>
                <a:ext cx="1409040" cy="2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DF5632B-C94E-FB4C-638F-DEFEDE3626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08165" y="5617184"/>
                  <a:ext cx="1525809" cy="2620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5FCF55D-D99D-A862-AF5E-0B14687E3CE7}"/>
                    </a:ext>
                  </a:extLst>
                </p14:cNvPr>
                <p14:cNvContentPartPr/>
                <p14:nvPr/>
              </p14:nvContentPartPr>
              <p14:xfrm>
                <a:off x="2657385" y="6038355"/>
                <a:ext cx="148608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5FCF55D-D99D-A862-AF5E-0B14687E3C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98786" y="5930355"/>
                  <a:ext cx="1602888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A67931-B2DE-12E7-44C8-1795CFF43649}"/>
                    </a:ext>
                  </a:extLst>
                </p14:cNvPr>
                <p14:cNvContentPartPr/>
                <p14:nvPr/>
              </p14:nvContentPartPr>
              <p14:xfrm>
                <a:off x="2647665" y="6324195"/>
                <a:ext cx="543600" cy="10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A67931-B2DE-12E7-44C8-1795CFF436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89087" y="6207887"/>
                  <a:ext cx="660365" cy="2423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B81FC4-7FA7-550C-8D1F-A919AC617349}"/>
                    </a:ext>
                  </a:extLst>
                </p14:cNvPr>
                <p14:cNvContentPartPr/>
                <p14:nvPr/>
              </p14:nvContentPartPr>
              <p14:xfrm>
                <a:off x="2676465" y="5499435"/>
                <a:ext cx="1051920" cy="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B81FC4-7FA7-550C-8D1F-A919AC6173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17873" y="5377935"/>
                  <a:ext cx="1168713" cy="24907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1C976FF-95E3-D28A-7445-726F5C49184E}"/>
                </a:ext>
              </a:extLst>
            </p:cNvPr>
            <p:cNvSpPr txBox="1"/>
            <p:nvPr/>
          </p:nvSpPr>
          <p:spPr>
            <a:xfrm>
              <a:off x="4095493" y="2803914"/>
              <a:ext cx="248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/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5634483-8F86-61D1-69BD-3D4E4CD9010E}"/>
                    </a:ext>
                  </a:extLst>
                </p14:cNvPr>
                <p14:cNvContentPartPr/>
                <p14:nvPr/>
              </p14:nvContentPartPr>
              <p14:xfrm>
                <a:off x="2647665" y="2980155"/>
                <a:ext cx="3222360" cy="66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5634483-8F86-61D1-69BD-3D4E4CD901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89070" y="2863651"/>
                  <a:ext cx="3339160" cy="299639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61" name="Google Shape;411;g35c44a9f9d9_2_0">
            <a:extLst>
              <a:ext uri="{FF2B5EF4-FFF2-40B4-BE49-F238E27FC236}">
                <a16:creationId xmlns:a16="http://schemas.microsoft.com/office/drawing/2014/main" id="{C1170B33-FBD4-19E3-257F-0FCD128EF38A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" name="Google Shape;412;g35c44a9f9d9_2_0">
            <a:extLst>
              <a:ext uri="{FF2B5EF4-FFF2-40B4-BE49-F238E27FC236}">
                <a16:creationId xmlns:a16="http://schemas.microsoft.com/office/drawing/2014/main" id="{401B9DF0-0EA2-A68D-3C90-62847E7382A2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85067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E56FD-8F4C-6D02-D2C8-86CB5353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CDD3-933D-D7C3-52B0-7B32D4317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90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13C53"/>
                </a:solidFill>
              </a:rPr>
              <a:t>Subindex 7:</a:t>
            </a:r>
            <a:br>
              <a:rPr lang="en-US" sz="3600" dirty="0">
                <a:solidFill>
                  <a:srgbClr val="013C53"/>
                </a:solidFill>
              </a:rPr>
            </a:br>
            <a:r>
              <a:rPr lang="en-US" sz="3600" dirty="0">
                <a:solidFill>
                  <a:srgbClr val="013C53"/>
                </a:solidFill>
              </a:rPr>
              <a:t>Existence of a Minimum Lot Size of </a:t>
            </a:r>
            <a:br>
              <a:rPr lang="en-US" sz="3600" dirty="0">
                <a:solidFill>
                  <a:srgbClr val="013C53"/>
                </a:solidFill>
              </a:rPr>
            </a:br>
            <a:r>
              <a:rPr lang="en-US" sz="3600" dirty="0">
                <a:solidFill>
                  <a:srgbClr val="013C53"/>
                </a:solidFill>
              </a:rPr>
              <a:t>Some Size Somewhere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FF92F4-A7E7-494C-3230-285E8A18B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58" y="2558355"/>
            <a:ext cx="10160484" cy="2842958"/>
          </a:xfrm>
          <a:prstGeom prst="rect">
            <a:avLst/>
          </a:prstGeom>
        </p:spPr>
      </p:pic>
      <p:cxnSp>
        <p:nvCxnSpPr>
          <p:cNvPr id="10" name="Google Shape;411;g35c44a9f9d9_2_0">
            <a:extLst>
              <a:ext uri="{FF2B5EF4-FFF2-40B4-BE49-F238E27FC236}">
                <a16:creationId xmlns:a16="http://schemas.microsoft.com/office/drawing/2014/main" id="{BBEBEF9E-5751-9DBD-EFC7-771A167E8D60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" name="Google Shape;412;g35c44a9f9d9_2_0">
            <a:extLst>
              <a:ext uri="{FF2B5EF4-FFF2-40B4-BE49-F238E27FC236}">
                <a16:creationId xmlns:a16="http://schemas.microsoft.com/office/drawing/2014/main" id="{E49FA5DE-2D90-BC3E-16F3-289D0735A7C6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7115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2A8BD-F11F-3CF1-AFC6-70E2C1B6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FCCC-51DA-0B3C-72B0-99BBA9B1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336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13C53"/>
                </a:solidFill>
              </a:rPr>
              <a:t>Subindex 8 – 11:</a:t>
            </a:r>
            <a:br>
              <a:rPr lang="en-US" sz="3600" dirty="0">
                <a:solidFill>
                  <a:srgbClr val="013C53"/>
                </a:solidFill>
              </a:rPr>
            </a:br>
            <a:r>
              <a:rPr lang="en-US" sz="3600" dirty="0">
                <a:solidFill>
                  <a:srgbClr val="013C53"/>
                </a:solidFill>
              </a:rPr>
              <a:t>Building Limits, Affordable Housing, Open Space, Impact Fees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3907E7-9E0F-3C77-A203-54FF9E44EB6D}"/>
                  </a:ext>
                </a:extLst>
              </p14:cNvPr>
              <p14:cNvContentPartPr/>
              <p14:nvPr/>
            </p14:nvContentPartPr>
            <p14:xfrm>
              <a:off x="11564914" y="397983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3907E7-9E0F-3C77-A203-54FF9E44EB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10914" y="3871834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9857765-CA77-B73E-F7B5-1D9C5D648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025" y="2382626"/>
            <a:ext cx="8011643" cy="38200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BB9D71-6AED-3387-E771-70139B031041}"/>
                  </a:ext>
                </a:extLst>
              </p14:cNvPr>
              <p14:cNvContentPartPr/>
              <p14:nvPr/>
            </p14:nvContentPartPr>
            <p14:xfrm>
              <a:off x="3125161" y="5344575"/>
              <a:ext cx="3880080" cy="54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BB9D71-6AED-3387-E771-70139B0310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71161" y="5236575"/>
                <a:ext cx="39877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C119644-1F2E-0980-715B-2FC9C4BC4354}"/>
                  </a:ext>
                </a:extLst>
              </p14:cNvPr>
              <p14:cNvContentPartPr/>
              <p14:nvPr/>
            </p14:nvContentPartPr>
            <p14:xfrm>
              <a:off x="3116161" y="5677215"/>
              <a:ext cx="5068800" cy="18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C119644-1F2E-0980-715B-2FC9C4BC43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62161" y="5569215"/>
                <a:ext cx="51764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F0B3D6-8E9D-3699-5146-12271131CFC1}"/>
                  </a:ext>
                </a:extLst>
              </p14:cNvPr>
              <p14:cNvContentPartPr/>
              <p14:nvPr/>
            </p14:nvContentPartPr>
            <p14:xfrm>
              <a:off x="3125161" y="5911575"/>
              <a:ext cx="4544280" cy="71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F0B3D6-8E9D-3699-5146-12271131CF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71161" y="5803575"/>
                <a:ext cx="4651920" cy="2872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301DC2-306B-B123-776F-501C717CDC52}"/>
              </a:ext>
            </a:extLst>
          </p:cNvPr>
          <p:cNvSpPr txBox="1"/>
          <p:nvPr/>
        </p:nvSpPr>
        <p:spPr>
          <a:xfrm>
            <a:off x="2764313" y="28731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AB6E34-CF52-895A-FCA1-B6E391AA31F9}"/>
              </a:ext>
            </a:extLst>
          </p:cNvPr>
          <p:cNvSpPr txBox="1"/>
          <p:nvPr/>
        </p:nvSpPr>
        <p:spPr>
          <a:xfrm>
            <a:off x="2757138" y="314043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A0411-7FA9-1ECB-1743-5B74EA63D1EE}"/>
              </a:ext>
            </a:extLst>
          </p:cNvPr>
          <p:cNvSpPr txBox="1"/>
          <p:nvPr/>
        </p:nvSpPr>
        <p:spPr>
          <a:xfrm>
            <a:off x="2749963" y="342684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C4F53A-576E-D89E-D805-9744334FA14D}"/>
              </a:ext>
            </a:extLst>
          </p:cNvPr>
          <p:cNvSpPr txBox="1"/>
          <p:nvPr/>
        </p:nvSpPr>
        <p:spPr>
          <a:xfrm>
            <a:off x="2742788" y="3704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F89FCC-BAAA-9B7A-EB24-5A0D5C5C2A2D}"/>
              </a:ext>
            </a:extLst>
          </p:cNvPr>
          <p:cNvSpPr txBox="1"/>
          <p:nvPr/>
        </p:nvSpPr>
        <p:spPr>
          <a:xfrm>
            <a:off x="2742788" y="398007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DD21B2-A596-B85E-C0B3-6BF61EEF6835}"/>
              </a:ext>
            </a:extLst>
          </p:cNvPr>
          <p:cNvSpPr txBox="1"/>
          <p:nvPr/>
        </p:nvSpPr>
        <p:spPr>
          <a:xfrm>
            <a:off x="2757138" y="426648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A27947-47BE-3DF9-31EB-6EEA50CF4226}"/>
              </a:ext>
            </a:extLst>
          </p:cNvPr>
          <p:cNvSpPr txBox="1"/>
          <p:nvPr/>
        </p:nvSpPr>
        <p:spPr>
          <a:xfrm>
            <a:off x="2728197" y="522823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290348-D544-7CE0-964C-B792F41C95C8}"/>
              </a:ext>
            </a:extLst>
          </p:cNvPr>
          <p:cNvSpPr txBox="1"/>
          <p:nvPr/>
        </p:nvSpPr>
        <p:spPr>
          <a:xfrm>
            <a:off x="2664077" y="54925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73632C-5F02-C73E-4421-9BD995ABEC09}"/>
              </a:ext>
            </a:extLst>
          </p:cNvPr>
          <p:cNvSpPr txBox="1"/>
          <p:nvPr/>
        </p:nvSpPr>
        <p:spPr>
          <a:xfrm>
            <a:off x="2684015" y="5756866"/>
            <a:ext cx="42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21" name="Google Shape;411;g35c44a9f9d9_2_0">
            <a:extLst>
              <a:ext uri="{FF2B5EF4-FFF2-40B4-BE49-F238E27FC236}">
                <a16:creationId xmlns:a16="http://schemas.microsoft.com/office/drawing/2014/main" id="{CC5B4406-7E58-0868-1894-6A048FF27A8B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" name="Google Shape;412;g35c44a9f9d9_2_0">
            <a:extLst>
              <a:ext uri="{FF2B5EF4-FFF2-40B4-BE49-F238E27FC236}">
                <a16:creationId xmlns:a16="http://schemas.microsoft.com/office/drawing/2014/main" id="{20A3CB2E-6283-192F-47BA-544B815CBAD4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1116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F8973-323B-97E9-EEE6-0A6D9961E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F8F8-66C0-41D9-89E0-E6DC5CE7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018"/>
            <a:ext cx="10515600" cy="138003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13C53"/>
                </a:solidFill>
              </a:rPr>
              <a:t>Subindex 12:</a:t>
            </a:r>
            <a:br>
              <a:rPr lang="en-US" sz="3600" dirty="0">
                <a:solidFill>
                  <a:srgbClr val="013C53"/>
                </a:solidFill>
              </a:rPr>
            </a:br>
            <a:r>
              <a:rPr lang="en-US" sz="3600" dirty="0">
                <a:solidFill>
                  <a:srgbClr val="013C53"/>
                </a:solidFill>
              </a:rPr>
              <a:t>Length of Time It Takes for Various Approvals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7B5160-E8E7-E05E-4D6F-6B391E1128AC}"/>
                  </a:ext>
                </a:extLst>
              </p14:cNvPr>
              <p14:cNvContentPartPr/>
              <p14:nvPr/>
            </p14:nvContentPartPr>
            <p14:xfrm>
              <a:off x="11564914" y="3979834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7B5160-E8E7-E05E-4D6F-6B391E1128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10914" y="3871834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528385B-815A-D443-B2C9-6A964C21FE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4441"/>
          <a:stretch/>
        </p:blipFill>
        <p:spPr>
          <a:xfrm>
            <a:off x="681576" y="2371899"/>
            <a:ext cx="5486400" cy="32959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C46424-1931-B448-A208-D07A5526B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176" y="2700557"/>
            <a:ext cx="5486400" cy="2598821"/>
          </a:xfrm>
          <a:prstGeom prst="rect">
            <a:avLst/>
          </a:prstGeom>
        </p:spPr>
      </p:pic>
      <p:cxnSp>
        <p:nvCxnSpPr>
          <p:cNvPr id="24" name="Google Shape;411;g35c44a9f9d9_2_0">
            <a:extLst>
              <a:ext uri="{FF2B5EF4-FFF2-40B4-BE49-F238E27FC236}">
                <a16:creationId xmlns:a16="http://schemas.microsoft.com/office/drawing/2014/main" id="{76E2BFB1-0096-34EF-D812-59245B21BC28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" name="Google Shape;412;g35c44a9f9d9_2_0">
            <a:extLst>
              <a:ext uri="{FF2B5EF4-FFF2-40B4-BE49-F238E27FC236}">
                <a16:creationId xmlns:a16="http://schemas.microsoft.com/office/drawing/2014/main" id="{FD22CAA5-6975-E28A-F9F3-C8E986D0A54B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47415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3EBB-AF50-E8ED-13B0-27512321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07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13C53"/>
                </a:solidFill>
              </a:rPr>
              <a:t>Kingstree, SC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7BD8E-ADDC-4357-9F4C-AAB7562D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80" y="2273596"/>
            <a:ext cx="4829175" cy="3875515"/>
          </a:xfrm>
          <a:prstGeom prst="rect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</p:pic>
      <p:pic>
        <p:nvPicPr>
          <p:cNvPr id="1026" name="Picture 2" descr="Kingstree, SC">
            <a:extLst>
              <a:ext uri="{FF2B5EF4-FFF2-40B4-BE49-F238E27FC236}">
                <a16:creationId xmlns:a16="http://schemas.microsoft.com/office/drawing/2014/main" id="{E51F9C1E-658F-7481-A457-A2C52CBE4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020" y="2689386"/>
            <a:ext cx="4565900" cy="3043933"/>
          </a:xfrm>
          <a:prstGeom prst="rect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A6D03D-6C62-7DA2-19D8-85DB73DEDF4E}"/>
              </a:ext>
            </a:extLst>
          </p:cNvPr>
          <p:cNvSpPr txBox="1"/>
          <p:nvPr/>
        </p:nvSpPr>
        <p:spPr>
          <a:xfrm>
            <a:off x="4505325" y="1317266"/>
            <a:ext cx="3181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Population: 3,055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5256A-B2D6-00DD-18F7-F4C06D3370EF}"/>
              </a:ext>
            </a:extLst>
          </p:cNvPr>
          <p:cNvSpPr txBox="1"/>
          <p:nvPr/>
        </p:nvSpPr>
        <p:spPr>
          <a:xfrm>
            <a:off x="6587895" y="5676900"/>
            <a:ext cx="4612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Municipal Association of South Carolina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Google Shape;411;g35c44a9f9d9_2_0">
            <a:extLst>
              <a:ext uri="{FF2B5EF4-FFF2-40B4-BE49-F238E27FC236}">
                <a16:creationId xmlns:a16="http://schemas.microsoft.com/office/drawing/2014/main" id="{272769CF-1264-BDB5-657C-BE39D21AB156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" name="Google Shape;412;g35c44a9f9d9_2_0">
            <a:extLst>
              <a:ext uri="{FF2B5EF4-FFF2-40B4-BE49-F238E27FC236}">
                <a16:creationId xmlns:a16="http://schemas.microsoft.com/office/drawing/2014/main" id="{7CA01862-E82A-4BDB-9B52-7CF6386D999D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510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86CD-0354-0636-E765-96B486AD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882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13C53"/>
                </a:solidFill>
              </a:rPr>
              <a:t>The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D9F58-4E90-0818-0889-9A9C21753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52" y="1866689"/>
            <a:ext cx="5160252" cy="3943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rgbClr val="013C53"/>
            </a:solidFill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01BA72-FF65-AFBC-94E4-89C2B75D3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557" y="1642537"/>
            <a:ext cx="4383274" cy="4527083"/>
          </a:xfrm>
          <a:prstGeom prst="rect">
            <a:avLst/>
          </a:prstGeom>
          <a:ln>
            <a:solidFill>
              <a:srgbClr val="013C53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64FDE5-BF4C-3508-01FE-4EF0C6180EC1}"/>
              </a:ext>
            </a:extLst>
          </p:cNvPr>
          <p:cNvSpPr txBox="1"/>
          <p:nvPr/>
        </p:nvSpPr>
        <p:spPr>
          <a:xfrm>
            <a:off x="6712557" y="6169620"/>
            <a:ext cx="2871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York Times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(2024)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725EC-5749-0894-5FB0-4C14E6876E1C}"/>
              </a:ext>
            </a:extLst>
          </p:cNvPr>
          <p:cNvSpPr txBox="1"/>
          <p:nvPr/>
        </p:nvSpPr>
        <p:spPr>
          <a:xfrm>
            <a:off x="523375" y="5860392"/>
            <a:ext cx="3657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 err="1">
                <a:solidFill>
                  <a:schemeClr val="bg1"/>
                </a:solidFill>
              </a:rPr>
              <a:t>Gyourko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i="1" dirty="0">
                <a:solidFill>
                  <a:schemeClr val="bg1"/>
                </a:solidFill>
              </a:rPr>
              <a:t>et al</a:t>
            </a:r>
            <a:r>
              <a:rPr lang="en-US" sz="1800" dirty="0">
                <a:solidFill>
                  <a:schemeClr val="bg1"/>
                </a:solidFill>
              </a:rPr>
              <a:t>., 2021</a:t>
            </a:r>
          </a:p>
        </p:txBody>
      </p:sp>
      <p:cxnSp>
        <p:nvCxnSpPr>
          <p:cNvPr id="9" name="Google Shape;411;g35c44a9f9d9_2_0">
            <a:extLst>
              <a:ext uri="{FF2B5EF4-FFF2-40B4-BE49-F238E27FC236}">
                <a16:creationId xmlns:a16="http://schemas.microsoft.com/office/drawing/2014/main" id="{2B417A43-1D0E-0AB1-2A7D-1FB55C4B712B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" name="Google Shape;412;g35c44a9f9d9_2_0">
            <a:extLst>
              <a:ext uri="{FF2B5EF4-FFF2-40B4-BE49-F238E27FC236}">
                <a16:creationId xmlns:a16="http://schemas.microsoft.com/office/drawing/2014/main" id="{D2CCCBB0-3C74-E170-B9B3-9B88B1993808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24586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5C1D-90E0-4A89-B8F5-00991827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81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How does the Wharton Index compare to actual land use regulations?</a:t>
            </a:r>
          </a:p>
        </p:txBody>
      </p:sp>
      <p:cxnSp>
        <p:nvCxnSpPr>
          <p:cNvPr id="4" name="Google Shape;417;g356df501983_0_62">
            <a:extLst>
              <a:ext uri="{FF2B5EF4-FFF2-40B4-BE49-F238E27FC236}">
                <a16:creationId xmlns:a16="http://schemas.microsoft.com/office/drawing/2014/main" id="{33E7A735-07B5-4A7D-D501-996FDF33F7F5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419;g356df501983_0_62">
            <a:extLst>
              <a:ext uri="{FF2B5EF4-FFF2-40B4-BE49-F238E27FC236}">
                <a16:creationId xmlns:a16="http://schemas.microsoft.com/office/drawing/2014/main" id="{47BA9EAF-5F26-D93D-A13B-63A3124C8CF3}"/>
              </a:ext>
            </a:extLst>
          </p:cNvPr>
          <p:cNvCxnSpPr/>
          <p:nvPr/>
        </p:nvCxnSpPr>
        <p:spPr>
          <a:xfrm>
            <a:off x="0" y="2673950"/>
            <a:ext cx="4048200" cy="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420;g356df501983_0_62">
            <a:extLst>
              <a:ext uri="{FF2B5EF4-FFF2-40B4-BE49-F238E27FC236}">
                <a16:creationId xmlns:a16="http://schemas.microsoft.com/office/drawing/2014/main" id="{CE0BB448-3B09-75D7-478E-CC723697F5BE}"/>
              </a:ext>
            </a:extLst>
          </p:cNvPr>
          <p:cNvCxnSpPr/>
          <p:nvPr/>
        </p:nvCxnSpPr>
        <p:spPr>
          <a:xfrm>
            <a:off x="1281600" y="6505710"/>
            <a:ext cx="109104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0650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g3aeecb6de73_0_723" title="Screenshot 2026-04-20 at 20.10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"/>
            <a:ext cx="12192000" cy="68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g3aeecb6de73_0_723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20496" y="5743884"/>
            <a:ext cx="1426917" cy="946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aeecb6de73_0_723" title="Screenshot 2025-03-24 at 12.31.39 P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450" y="4827675"/>
            <a:ext cx="1708149" cy="15115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pic>
      <p:pic>
        <p:nvPicPr>
          <p:cNvPr id="653" name="Google Shape;653;g3aeecb6de73_0_723" title="Screenshot 2025-03-24 at 12.38.17 P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8150" y="5492340"/>
            <a:ext cx="1708150" cy="108498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pic>
      <p:sp>
        <p:nvSpPr>
          <p:cNvPr id="654" name="Google Shape;654;g3aeecb6de73_0_723"/>
          <p:cNvSpPr txBox="1"/>
          <p:nvPr/>
        </p:nvSpPr>
        <p:spPr>
          <a:xfrm>
            <a:off x="1522561" y="2667494"/>
            <a:ext cx="1427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NV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g3aeecb6de73_0_723"/>
          <p:cNvSpPr txBox="1"/>
          <p:nvPr/>
        </p:nvSpPr>
        <p:spPr>
          <a:xfrm>
            <a:off x="3683886" y="3770801"/>
            <a:ext cx="111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NM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6" name="Google Shape;656;g3aeecb6de73_0_723"/>
          <p:cNvSpPr txBox="1"/>
          <p:nvPr/>
        </p:nvSpPr>
        <p:spPr>
          <a:xfrm>
            <a:off x="3797772" y="2758939"/>
            <a:ext cx="125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7" name="Google Shape;657;g3aeecb6de73_0_723"/>
          <p:cNvSpPr txBox="1"/>
          <p:nvPr/>
        </p:nvSpPr>
        <p:spPr>
          <a:xfrm>
            <a:off x="409975" y="5141113"/>
            <a:ext cx="133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8" name="Google Shape;658;g3aeecb6de73_0_723"/>
          <p:cNvSpPr txBox="1"/>
          <p:nvPr/>
        </p:nvSpPr>
        <p:spPr>
          <a:xfrm>
            <a:off x="2466675" y="5711588"/>
            <a:ext cx="133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9" name="Google Shape;659;g3aeecb6de73_0_723"/>
          <p:cNvSpPr txBox="1"/>
          <p:nvPr/>
        </p:nvSpPr>
        <p:spPr>
          <a:xfrm>
            <a:off x="2541317" y="3844176"/>
            <a:ext cx="1331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0" name="Google Shape;660;g3aeecb6de73_0_723"/>
          <p:cNvSpPr txBox="1"/>
          <p:nvPr/>
        </p:nvSpPr>
        <p:spPr>
          <a:xfrm>
            <a:off x="10361532" y="2819306"/>
            <a:ext cx="9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CT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1" name="Google Shape;661;g3aeecb6de73_0_723"/>
          <p:cNvSpPr txBox="1"/>
          <p:nvPr/>
        </p:nvSpPr>
        <p:spPr>
          <a:xfrm>
            <a:off x="10902449" y="1986084"/>
            <a:ext cx="125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2" name="Google Shape;662;g3aeecb6de73_0_723"/>
          <p:cNvSpPr txBox="1"/>
          <p:nvPr/>
        </p:nvSpPr>
        <p:spPr>
          <a:xfrm>
            <a:off x="10990709" y="2683646"/>
            <a:ext cx="804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3" name="Google Shape;663;g3aeecb6de73_0_723"/>
          <p:cNvSpPr txBox="1"/>
          <p:nvPr/>
        </p:nvSpPr>
        <p:spPr>
          <a:xfrm>
            <a:off x="10694913" y="1104495"/>
            <a:ext cx="125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4" name="Google Shape;664;g3aeecb6de73_0_723"/>
          <p:cNvCxnSpPr/>
          <p:nvPr/>
        </p:nvCxnSpPr>
        <p:spPr>
          <a:xfrm flipH="1">
            <a:off x="10895249" y="1624298"/>
            <a:ext cx="295500" cy="240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5" name="Google Shape;665;g3aeecb6de73_0_723"/>
          <p:cNvCxnSpPr/>
          <p:nvPr/>
        </p:nvCxnSpPr>
        <p:spPr>
          <a:xfrm>
            <a:off x="10902449" y="2274698"/>
            <a:ext cx="253800" cy="1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6" name="Google Shape;666;g3aeecb6de73_0_723"/>
          <p:cNvCxnSpPr/>
          <p:nvPr/>
        </p:nvCxnSpPr>
        <p:spPr>
          <a:xfrm>
            <a:off x="10854900" y="2486556"/>
            <a:ext cx="240600" cy="33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7" name="Google Shape;667;g3aeecb6de73_0_723"/>
          <p:cNvCxnSpPr/>
          <p:nvPr/>
        </p:nvCxnSpPr>
        <p:spPr>
          <a:xfrm>
            <a:off x="10644568" y="2554446"/>
            <a:ext cx="91800" cy="382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8" name="Google Shape;668;g3aeecb6de73_0_723"/>
          <p:cNvSpPr txBox="1"/>
          <p:nvPr/>
        </p:nvSpPr>
        <p:spPr>
          <a:xfrm>
            <a:off x="9950370" y="3334695"/>
            <a:ext cx="9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9" name="Google Shape;669;g3aeecb6de73_0_723"/>
          <p:cNvCxnSpPr>
            <a:endCxn id="670" idx="3"/>
          </p:cNvCxnSpPr>
          <p:nvPr/>
        </p:nvCxnSpPr>
        <p:spPr>
          <a:xfrm>
            <a:off x="9833971" y="3123345"/>
            <a:ext cx="290700" cy="307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1" name="Google Shape;671;g3aeecb6de73_0_723"/>
          <p:cNvSpPr txBox="1"/>
          <p:nvPr/>
        </p:nvSpPr>
        <p:spPr>
          <a:xfrm>
            <a:off x="9580665" y="885689"/>
            <a:ext cx="125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VT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72" name="Google Shape;672;g3aeecb6de73_0_723"/>
          <p:cNvCxnSpPr/>
          <p:nvPr/>
        </p:nvCxnSpPr>
        <p:spPr>
          <a:xfrm>
            <a:off x="10454952" y="1374714"/>
            <a:ext cx="186900" cy="418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0" name="Google Shape;670;g3aeecb6de73_0_723"/>
          <p:cNvSpPr txBox="1"/>
          <p:nvPr/>
        </p:nvSpPr>
        <p:spPr>
          <a:xfrm>
            <a:off x="9138571" y="3107895"/>
            <a:ext cx="9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3" name="Google Shape;673;g3aeecb6de73_0_723"/>
          <p:cNvSpPr txBox="1"/>
          <p:nvPr/>
        </p:nvSpPr>
        <p:spPr>
          <a:xfrm>
            <a:off x="2655197" y="2683651"/>
            <a:ext cx="125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g3aeecb6de73_0_723"/>
          <p:cNvSpPr txBox="1"/>
          <p:nvPr/>
        </p:nvSpPr>
        <p:spPr>
          <a:xfrm>
            <a:off x="9046396" y="3617476"/>
            <a:ext cx="9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NC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5" name="Google Shape;675;g3aeecb6de73_0_723"/>
          <p:cNvSpPr txBox="1"/>
          <p:nvPr/>
        </p:nvSpPr>
        <p:spPr>
          <a:xfrm>
            <a:off x="759422" y="3145001"/>
            <a:ext cx="1427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6" name="Google Shape;676;g3aeecb6de73_0_723"/>
          <p:cNvSpPr/>
          <p:nvPr/>
        </p:nvSpPr>
        <p:spPr>
          <a:xfrm>
            <a:off x="3148050" y="133222"/>
            <a:ext cx="5895900" cy="53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02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02689A"/>
                </a:solidFill>
                <a:latin typeface="Arial"/>
                <a:ea typeface="Arial"/>
                <a:cs typeface="Arial"/>
                <a:sym typeface="Arial"/>
              </a:rPr>
              <a:t>zoningatlas.org/</a:t>
            </a:r>
            <a:r>
              <a:rPr lang="en-US" sz="3000" b="1">
                <a:solidFill>
                  <a:srgbClr val="02689A"/>
                </a:solidFill>
              </a:rPr>
              <a:t>atlas</a:t>
            </a:r>
            <a:endParaRPr sz="3000" b="1" i="0" u="none" strike="noStrike" cap="none">
              <a:solidFill>
                <a:srgbClr val="0268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3aeecb6de73_0_723"/>
          <p:cNvSpPr txBox="1"/>
          <p:nvPr/>
        </p:nvSpPr>
        <p:spPr>
          <a:xfrm>
            <a:off x="10712851" y="3351786"/>
            <a:ext cx="9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013C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</a:t>
            </a:r>
            <a:endParaRPr sz="3000" b="1" i="0" u="none" strike="noStrike" cap="none">
              <a:solidFill>
                <a:srgbClr val="013C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78" name="Google Shape;678;g3aeecb6de73_0_723"/>
          <p:cNvCxnSpPr/>
          <p:nvPr/>
        </p:nvCxnSpPr>
        <p:spPr>
          <a:xfrm>
            <a:off x="10124675" y="3077278"/>
            <a:ext cx="731100" cy="449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A9C3-99DE-B44C-3A0A-65889B6C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13C53"/>
                </a:solidFill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13792-55F4-C0F7-DCC8-355522474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Compare WRLURI against three well-known metrics of zoning restrictiveness: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% of residential land prohibiting apartments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% of single-family land where minimum lot sizes exceed 1 acre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% of single-family land where accessory dwelling units (ADUs) are prohibited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1,033</a:t>
            </a:r>
            <a:r>
              <a:rPr lang="en-US" dirty="0">
                <a:solidFill>
                  <a:schemeClr val="bg1"/>
                </a:solidFill>
              </a:rPr>
              <a:t> (out of 2,473) jurisdictions in both WRLURI + NZA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CA307-4AEF-D6FC-C1AE-88D62DE68852}"/>
              </a:ext>
            </a:extLst>
          </p:cNvPr>
          <p:cNvSpPr txBox="1"/>
          <p:nvPr/>
        </p:nvSpPr>
        <p:spPr>
          <a:xfrm>
            <a:off x="3046997" y="3244334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</a:p>
        </p:txBody>
      </p:sp>
      <p:cxnSp>
        <p:nvCxnSpPr>
          <p:cNvPr id="6" name="Google Shape;411;g35c44a9f9d9_2_0">
            <a:extLst>
              <a:ext uri="{FF2B5EF4-FFF2-40B4-BE49-F238E27FC236}">
                <a16:creationId xmlns:a16="http://schemas.microsoft.com/office/drawing/2014/main" id="{20F9ABA1-7ECC-C5E3-20C1-212C729D0315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412;g35c44a9f9d9_2_0">
            <a:extLst>
              <a:ext uri="{FF2B5EF4-FFF2-40B4-BE49-F238E27FC236}">
                <a16:creationId xmlns:a16="http://schemas.microsoft.com/office/drawing/2014/main" id="{9FC482A9-F0CA-663A-C538-C0E5358A359E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7247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E3A6-5721-49BF-38CB-E2C871F9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0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13C53"/>
                </a:solidFill>
              </a:rPr>
              <a:t>WLRURI vs. % of Residential Land where Apartments are Prohibited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E93367-6EA7-E7AF-9876-C5D907120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462" y="1870581"/>
            <a:ext cx="6089073" cy="4572000"/>
          </a:xfrm>
          <a:ln>
            <a:solidFill>
              <a:srgbClr val="013C53"/>
            </a:solidFill>
          </a:ln>
        </p:spPr>
      </p:pic>
      <p:cxnSp>
        <p:nvCxnSpPr>
          <p:cNvPr id="10" name="Google Shape;411;g35c44a9f9d9_2_0">
            <a:extLst>
              <a:ext uri="{FF2B5EF4-FFF2-40B4-BE49-F238E27FC236}">
                <a16:creationId xmlns:a16="http://schemas.microsoft.com/office/drawing/2014/main" id="{29F0919C-F6FD-F29A-F392-06F4143F6382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" name="Google Shape;412;g35c44a9f9d9_2_0">
            <a:extLst>
              <a:ext uri="{FF2B5EF4-FFF2-40B4-BE49-F238E27FC236}">
                <a16:creationId xmlns:a16="http://schemas.microsoft.com/office/drawing/2014/main" id="{0F0F3C67-70E8-0106-0FD3-F572DA99403D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20F71E0-DAC7-0432-23EB-9FB664135626}"/>
              </a:ext>
            </a:extLst>
          </p:cNvPr>
          <p:cNvSpPr/>
          <p:nvPr/>
        </p:nvSpPr>
        <p:spPr>
          <a:xfrm>
            <a:off x="3743342" y="2115625"/>
            <a:ext cx="1915372" cy="278491"/>
          </a:xfrm>
          <a:prstGeom prst="rect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23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9040-6AEF-8675-508A-B683662F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0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13C53"/>
                </a:solidFill>
              </a:rPr>
              <a:t>WRLURI vs. % of Single-Family Land where Minimum Lot Sizes Exceed 1 Acre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89DEBE5-B968-834B-8BA1-402B8D335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463" y="1870581"/>
            <a:ext cx="6089073" cy="4572000"/>
          </a:xfrm>
          <a:ln>
            <a:solidFill>
              <a:srgbClr val="013C53"/>
            </a:solidFill>
          </a:ln>
        </p:spPr>
      </p:pic>
      <p:cxnSp>
        <p:nvCxnSpPr>
          <p:cNvPr id="14" name="Google Shape;411;g35c44a9f9d9_2_0">
            <a:extLst>
              <a:ext uri="{FF2B5EF4-FFF2-40B4-BE49-F238E27FC236}">
                <a16:creationId xmlns:a16="http://schemas.microsoft.com/office/drawing/2014/main" id="{D24EC1D8-430F-F6DA-9E3B-0AA3E98EA1F1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412;g35c44a9f9d9_2_0">
            <a:extLst>
              <a:ext uri="{FF2B5EF4-FFF2-40B4-BE49-F238E27FC236}">
                <a16:creationId xmlns:a16="http://schemas.microsoft.com/office/drawing/2014/main" id="{444769AF-8FE6-2267-F9A5-C18B224C5D22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DC9FAE7-245D-6C5A-0C0C-9E5302D7B3C0}"/>
              </a:ext>
            </a:extLst>
          </p:cNvPr>
          <p:cNvSpPr/>
          <p:nvPr/>
        </p:nvSpPr>
        <p:spPr>
          <a:xfrm>
            <a:off x="3759245" y="2137109"/>
            <a:ext cx="1806668" cy="257008"/>
          </a:xfrm>
          <a:prstGeom prst="rect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13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9630-27EA-C8EE-B3F6-5A9DC6DC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0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13C53"/>
                </a:solidFill>
              </a:rPr>
              <a:t>WRLURI vs. % of Single-Family Land where ADUs are Prohibited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1D25171-E3C4-82AA-A1AD-BCA659DCE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1463" y="1870581"/>
            <a:ext cx="6089073" cy="4572000"/>
          </a:xfrm>
          <a:ln>
            <a:solidFill>
              <a:srgbClr val="013C53"/>
            </a:solidFill>
          </a:ln>
        </p:spPr>
      </p:pic>
      <p:cxnSp>
        <p:nvCxnSpPr>
          <p:cNvPr id="14" name="Google Shape;411;g35c44a9f9d9_2_0">
            <a:extLst>
              <a:ext uri="{FF2B5EF4-FFF2-40B4-BE49-F238E27FC236}">
                <a16:creationId xmlns:a16="http://schemas.microsoft.com/office/drawing/2014/main" id="{92F15237-E6C7-6960-A3AA-8E5FC8D5718B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412;g35c44a9f9d9_2_0">
            <a:extLst>
              <a:ext uri="{FF2B5EF4-FFF2-40B4-BE49-F238E27FC236}">
                <a16:creationId xmlns:a16="http://schemas.microsoft.com/office/drawing/2014/main" id="{5752C2B7-9425-751A-D6DF-F821A774023E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D7E8725-EE2C-686E-6F58-2C76DF5B7D5B}"/>
              </a:ext>
            </a:extLst>
          </p:cNvPr>
          <p:cNvSpPr/>
          <p:nvPr/>
        </p:nvSpPr>
        <p:spPr>
          <a:xfrm>
            <a:off x="3759245" y="2115625"/>
            <a:ext cx="2426870" cy="278491"/>
          </a:xfrm>
          <a:prstGeom prst="rect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28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5F21-5F2E-E64C-2B8D-FD34FC79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Concluding Thoughts</a:t>
            </a:r>
          </a:p>
        </p:txBody>
      </p:sp>
      <p:cxnSp>
        <p:nvCxnSpPr>
          <p:cNvPr id="4" name="Google Shape;417;g356df501983_0_62">
            <a:extLst>
              <a:ext uri="{FF2B5EF4-FFF2-40B4-BE49-F238E27FC236}">
                <a16:creationId xmlns:a16="http://schemas.microsoft.com/office/drawing/2014/main" id="{96BB5D03-A2A1-C292-9C13-6C5BF3656AF1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419;g356df501983_0_62">
            <a:extLst>
              <a:ext uri="{FF2B5EF4-FFF2-40B4-BE49-F238E27FC236}">
                <a16:creationId xmlns:a16="http://schemas.microsoft.com/office/drawing/2014/main" id="{81FC9A6E-BC45-32D9-03C7-19EEEDC4F02C}"/>
              </a:ext>
            </a:extLst>
          </p:cNvPr>
          <p:cNvCxnSpPr/>
          <p:nvPr/>
        </p:nvCxnSpPr>
        <p:spPr>
          <a:xfrm>
            <a:off x="0" y="2673950"/>
            <a:ext cx="4048200" cy="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420;g356df501983_0_62">
            <a:extLst>
              <a:ext uri="{FF2B5EF4-FFF2-40B4-BE49-F238E27FC236}">
                <a16:creationId xmlns:a16="http://schemas.microsoft.com/office/drawing/2014/main" id="{AA3887EA-1508-9963-7319-1A4ABCE225AD}"/>
              </a:ext>
            </a:extLst>
          </p:cNvPr>
          <p:cNvCxnSpPr/>
          <p:nvPr/>
        </p:nvCxnSpPr>
        <p:spPr>
          <a:xfrm>
            <a:off x="1281600" y="6505710"/>
            <a:ext cx="109104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46014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850E-B4BF-DB77-185C-DE293C382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4299"/>
            <a:ext cx="10515600" cy="108638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13C53"/>
                </a:solidFill>
              </a:rPr>
              <a:t>Concluding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67E1-E9E9-A3E3-1070-F940F8C34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What does the wide acceptance of the Wharton Index tell us about the state of urban theory?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My contention: tearing down restrictive concepts like “undifferentiated regulation” can be important part of building up urban theory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Google Shape;411;g35c44a9f9d9_2_0">
            <a:extLst>
              <a:ext uri="{FF2B5EF4-FFF2-40B4-BE49-F238E27FC236}">
                <a16:creationId xmlns:a16="http://schemas.microsoft.com/office/drawing/2014/main" id="{5CFCCDC8-E781-0E2D-928A-242A4BA8A570}"/>
              </a:ext>
            </a:extLst>
          </p:cNvPr>
          <p:cNvCxnSpPr/>
          <p:nvPr/>
        </p:nvCxnSpPr>
        <p:spPr>
          <a:xfrm>
            <a:off x="523375" y="0"/>
            <a:ext cx="0" cy="568050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412;g35c44a9f9d9_2_0">
            <a:extLst>
              <a:ext uri="{FF2B5EF4-FFF2-40B4-BE49-F238E27FC236}">
                <a16:creationId xmlns:a16="http://schemas.microsoft.com/office/drawing/2014/main" id="{F24F2AAD-900F-6775-6BD7-389CB11329FC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2540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213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B3A8-5612-23D7-0892-238556F0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0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8090-B3FB-A3FC-F1CA-752593322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5959"/>
            <a:ext cx="10515600" cy="42559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Scott Markley</a:t>
            </a:r>
          </a:p>
          <a:p>
            <a:pPr marL="0" indent="0">
              <a:buNone/>
            </a:pPr>
            <a:r>
              <a:rPr lang="en-US" dirty="0"/>
              <a:t>scott@landuselabs.com</a:t>
            </a:r>
          </a:p>
        </p:txBody>
      </p:sp>
      <p:cxnSp>
        <p:nvCxnSpPr>
          <p:cNvPr id="6" name="Google Shape;417;g356df501983_0_62">
            <a:extLst>
              <a:ext uri="{FF2B5EF4-FFF2-40B4-BE49-F238E27FC236}">
                <a16:creationId xmlns:a16="http://schemas.microsoft.com/office/drawing/2014/main" id="{F63DE008-43F2-7289-22EF-48DE35FFD13D}"/>
              </a:ext>
            </a:extLst>
          </p:cNvPr>
          <p:cNvCxnSpPr/>
          <p:nvPr/>
        </p:nvCxnSpPr>
        <p:spPr>
          <a:xfrm>
            <a:off x="-1" y="545018"/>
            <a:ext cx="109728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420;g356df501983_0_62">
            <a:extLst>
              <a:ext uri="{FF2B5EF4-FFF2-40B4-BE49-F238E27FC236}">
                <a16:creationId xmlns:a16="http://schemas.microsoft.com/office/drawing/2014/main" id="{576012C5-57C3-92FC-335B-7559248C788B}"/>
              </a:ext>
            </a:extLst>
          </p:cNvPr>
          <p:cNvCxnSpPr/>
          <p:nvPr/>
        </p:nvCxnSpPr>
        <p:spPr>
          <a:xfrm>
            <a:off x="1281600" y="6505710"/>
            <a:ext cx="10910400" cy="0"/>
          </a:xfrm>
          <a:prstGeom prst="straightConnector1">
            <a:avLst/>
          </a:prstGeom>
          <a:noFill/>
          <a:ln w="19050" cap="flat" cmpd="sng">
            <a:solidFill>
              <a:srgbClr val="02689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6216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8788</TotalTime>
  <Words>542</Words>
  <Application>Microsoft Office PowerPoint</Application>
  <PresentationFormat>Widescreen</PresentationFormat>
  <Paragraphs>112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Helvetica Neue</vt:lpstr>
      <vt:lpstr>Office Theme</vt:lpstr>
      <vt:lpstr>“Regulation” Does Not Exist: Disassembling the Wharton Index</vt:lpstr>
      <vt:lpstr>Higher Level of Land Use Regulation   =   Higher Housing Prices</vt:lpstr>
      <vt:lpstr>PowerPoint Presentation</vt:lpstr>
      <vt:lpstr>Objectives</vt:lpstr>
      <vt:lpstr>Disassembling the Wharton Index</vt:lpstr>
      <vt:lpstr>Subindices 1-3: Perceived Political Pressure + Involvement</vt:lpstr>
      <vt:lpstr>Subindices 4-6: Governing Bodies Believed to be Involved in “By Right” and Not By Right Zoning Changes</vt:lpstr>
      <vt:lpstr>Subindex 7: Existence of a Minimum Lot Size of  Some Size Somewhere</vt:lpstr>
      <vt:lpstr>Subindex 8 – 11: Building Limits, Affordable Housing, Open Space, Impact Fees</vt:lpstr>
      <vt:lpstr>Subindex 12: Length of Time It Takes for Various Approvals</vt:lpstr>
      <vt:lpstr>Kingstree, SC</vt:lpstr>
      <vt:lpstr>The Result</vt:lpstr>
      <vt:lpstr>How does the Wharton Index compare to actual land use regulations?</vt:lpstr>
      <vt:lpstr>PowerPoint Presentation</vt:lpstr>
      <vt:lpstr>Analysis</vt:lpstr>
      <vt:lpstr>WLRURI vs. % of Residential Land where Apartments are Prohibited</vt:lpstr>
      <vt:lpstr>WRLURI vs. % of Single-Family Land where Minimum Lot Sizes Exceed 1 Acre</vt:lpstr>
      <vt:lpstr>WRLURI vs. % of Single-Family Land where ADUs are Prohibited</vt:lpstr>
      <vt:lpstr>Concluding Thoughts</vt:lpstr>
      <vt:lpstr>Concluding Thoughts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Markley</dc:creator>
  <cp:lastModifiedBy>Scott Markley</cp:lastModifiedBy>
  <cp:revision>54</cp:revision>
  <dcterms:created xsi:type="dcterms:W3CDTF">2025-03-20T13:16:15Z</dcterms:created>
  <dcterms:modified xsi:type="dcterms:W3CDTF">2026-04-29T18:31:44Z</dcterms:modified>
</cp:coreProperties>
</file>